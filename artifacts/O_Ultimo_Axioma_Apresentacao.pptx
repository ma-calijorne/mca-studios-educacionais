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08d3ee4f3d34e83" /><Relationship Type="http://schemas.openxmlformats.org/officeDocument/2006/relationships/extended-properties" Target="/docProps/app.xml" Id="R13af918eaeb54bb9" /><Relationship Type="http://schemas.openxmlformats.org/officeDocument/2006/relationships/officeDocument" Target="/ppt/presentation.xml" Id="R1f76cf07b80b47f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97e6e06588c4323"/>
  </p:sldMasterIdLst>
  <p:notesMasterIdLst>
    <p:notesMasterId xmlns:r="http://schemas.openxmlformats.org/officeDocument/2006/relationships" r:id="R0032bf850d164fb3"/>
  </p:notesMasterIdLst>
  <p:sldIdLst>
    <p:sldId xmlns:r="http://schemas.openxmlformats.org/officeDocument/2006/relationships" id="256" r:id="Rd3f810304b0a44d9"/>
    <p:sldId xmlns:r="http://schemas.openxmlformats.org/officeDocument/2006/relationships" id="257" r:id="R0592edaea4ea4867"/>
    <p:sldId xmlns:r="http://schemas.openxmlformats.org/officeDocument/2006/relationships" id="258" r:id="Rad06f19e2937459a"/>
    <p:sldId xmlns:r="http://schemas.openxmlformats.org/officeDocument/2006/relationships" id="259" r:id="R13b382c4bf7942f5"/>
    <p:sldId xmlns:r="http://schemas.openxmlformats.org/officeDocument/2006/relationships" id="260" r:id="R9569cc1d3fcf45c6"/>
    <p:sldId xmlns:r="http://schemas.openxmlformats.org/officeDocument/2006/relationships" id="261" r:id="Rcae657c937b74573"/>
    <p:sldId xmlns:r="http://schemas.openxmlformats.org/officeDocument/2006/relationships" id="262" r:id="Ra0e2df361f5f4ba6"/>
    <p:sldId xmlns:r="http://schemas.openxmlformats.org/officeDocument/2006/relationships" id="263" r:id="Rd31219e1fb464a3f"/>
    <p:sldId xmlns:r="http://schemas.openxmlformats.org/officeDocument/2006/relationships" id="264" r:id="R0a83f6bff9e74751"/>
    <p:sldId xmlns:r="http://schemas.openxmlformats.org/officeDocument/2006/relationships" id="265" r:id="Rf44200cba1d045d1"/>
    <p:sldId xmlns:r="http://schemas.openxmlformats.org/officeDocument/2006/relationships" id="266" r:id="Rd375488475414343"/>
    <p:sldId xmlns:r="http://schemas.openxmlformats.org/officeDocument/2006/relationships" id="267" r:id="Rc0cb446ee6404d08"/>
    <p:sldId xmlns:r="http://schemas.openxmlformats.org/officeDocument/2006/relationships" id="268" r:id="R61444b7066af4fb9"/>
    <p:sldId xmlns:r="http://schemas.openxmlformats.org/officeDocument/2006/relationships" id="269" r:id="R601260890cd24ac8"/>
    <p:sldId xmlns:r="http://schemas.openxmlformats.org/officeDocument/2006/relationships" id="270" r:id="Rdc552bafb76e42a7"/>
    <p:sldId xmlns:r="http://schemas.openxmlformats.org/officeDocument/2006/relationships" id="271" r:id="R11d03a9263ae43a4"/>
    <p:sldId xmlns:r="http://schemas.openxmlformats.org/officeDocument/2006/relationships" id="272" r:id="R69709561ad88495c"/>
    <p:sldId xmlns:r="http://schemas.openxmlformats.org/officeDocument/2006/relationships" id="273" r:id="Rc111d0e9f95541f4"/>
    <p:sldId xmlns:r="http://schemas.openxmlformats.org/officeDocument/2006/relationships" id="274" r:id="R66b19bf2e52c4d0b"/>
    <p:sldId xmlns:r="http://schemas.openxmlformats.org/officeDocument/2006/relationships" id="275" r:id="R2bb0decefde54ca3"/>
    <p:sldId xmlns:r="http://schemas.openxmlformats.org/officeDocument/2006/relationships" id="276" r:id="R03a4fbf88e954f45"/>
    <p:sldId xmlns:r="http://schemas.openxmlformats.org/officeDocument/2006/relationships" id="277" r:id="R173b667e4ed0492b"/>
    <p:sldId xmlns:r="http://schemas.openxmlformats.org/officeDocument/2006/relationships" id="278" r:id="Rb6f0607e6ce040c4"/>
    <p:sldId xmlns:r="http://schemas.openxmlformats.org/officeDocument/2006/relationships" id="279" r:id="Rf65c8d1923174280"/>
    <p:sldId xmlns:r="http://schemas.openxmlformats.org/officeDocument/2006/relationships" id="280" r:id="Rdfb448e6dc574602"/>
    <p:sldId xmlns:r="http://schemas.openxmlformats.org/officeDocument/2006/relationships" id="281" r:id="Rc9cb31e9be8e47bb"/>
    <p:sldId xmlns:r="http://schemas.openxmlformats.org/officeDocument/2006/relationships" id="282" r:id="Rff1b623bcc1c45f5"/>
    <p:sldId xmlns:r="http://schemas.openxmlformats.org/officeDocument/2006/relationships" id="283" r:id="Rf0ab89b6537b433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f90328f5fb6401a" /><Relationship Type="http://schemas.openxmlformats.org/officeDocument/2006/relationships/slideMaster" Target="/ppt/slideMasters/slideMaster1.xml" Id="Ra97e6e06588c4323" /><Relationship Type="http://schemas.openxmlformats.org/officeDocument/2006/relationships/notesMaster" Target="/ppt/notesMasters/notesMaster1.xml" Id="R0032bf850d164fb3" /><Relationship Type="http://schemas.openxmlformats.org/officeDocument/2006/relationships/presProps" Target="/ppt/presProps.xml" Id="Ra0c178a6a33e4d77" /><Relationship Type="http://schemas.openxmlformats.org/officeDocument/2006/relationships/tableStyles" Target="/ppt/tableStyles.xml" Id="Rbf8551f45f844680" /><Relationship Type="http://schemas.openxmlformats.org/officeDocument/2006/relationships/slide" Target="/ppt/slides/slide1.xml" Id="Rd3f810304b0a44d9" /><Relationship Type="http://schemas.openxmlformats.org/officeDocument/2006/relationships/slide" Target="/ppt/slides/slide2.xml" Id="R0592edaea4ea4867" /><Relationship Type="http://schemas.openxmlformats.org/officeDocument/2006/relationships/slide" Target="/ppt/slides/slide3.xml" Id="Rad06f19e2937459a" /><Relationship Type="http://schemas.openxmlformats.org/officeDocument/2006/relationships/slide" Target="/ppt/slides/slide4.xml" Id="R13b382c4bf7942f5" /><Relationship Type="http://schemas.openxmlformats.org/officeDocument/2006/relationships/slide" Target="/ppt/slides/slide5.xml" Id="R9569cc1d3fcf45c6" /><Relationship Type="http://schemas.openxmlformats.org/officeDocument/2006/relationships/slide" Target="/ppt/slides/slide6.xml" Id="Rcae657c937b74573" /><Relationship Type="http://schemas.openxmlformats.org/officeDocument/2006/relationships/slide" Target="/ppt/slides/slide7.xml" Id="Ra0e2df361f5f4ba6" /><Relationship Type="http://schemas.openxmlformats.org/officeDocument/2006/relationships/slide" Target="/ppt/slides/slide8.xml" Id="Rd31219e1fb464a3f" /><Relationship Type="http://schemas.openxmlformats.org/officeDocument/2006/relationships/slide" Target="/ppt/slides/slide9.xml" Id="R0a83f6bff9e74751" /><Relationship Type="http://schemas.openxmlformats.org/officeDocument/2006/relationships/slide" Target="/ppt/slides/slide10.xml" Id="Rf44200cba1d045d1" /><Relationship Type="http://schemas.openxmlformats.org/officeDocument/2006/relationships/slide" Target="/ppt/slides/slide11.xml" Id="Rd375488475414343" /><Relationship Type="http://schemas.openxmlformats.org/officeDocument/2006/relationships/slide" Target="/ppt/slides/slide12.xml" Id="Rc0cb446ee6404d08" /><Relationship Type="http://schemas.openxmlformats.org/officeDocument/2006/relationships/slide" Target="/ppt/slides/slide13.xml" Id="R61444b7066af4fb9" /><Relationship Type="http://schemas.openxmlformats.org/officeDocument/2006/relationships/slide" Target="/ppt/slides/slide14.xml" Id="R601260890cd24ac8" /><Relationship Type="http://schemas.openxmlformats.org/officeDocument/2006/relationships/slide" Target="/ppt/slides/slide15.xml" Id="Rdc552bafb76e42a7" /><Relationship Type="http://schemas.openxmlformats.org/officeDocument/2006/relationships/slide" Target="/ppt/slides/slide16.xml" Id="R11d03a9263ae43a4" /><Relationship Type="http://schemas.openxmlformats.org/officeDocument/2006/relationships/slide" Target="/ppt/slides/slide17.xml" Id="R69709561ad88495c" /><Relationship Type="http://schemas.openxmlformats.org/officeDocument/2006/relationships/slide" Target="/ppt/slides/slide18.xml" Id="Rc111d0e9f95541f4" /><Relationship Type="http://schemas.openxmlformats.org/officeDocument/2006/relationships/slide" Target="/ppt/slides/slide19.xml" Id="R66b19bf2e52c4d0b" /><Relationship Type="http://schemas.openxmlformats.org/officeDocument/2006/relationships/slide" Target="/ppt/slides/slide20.xml" Id="R2bb0decefde54ca3" /><Relationship Type="http://schemas.openxmlformats.org/officeDocument/2006/relationships/slide" Target="/ppt/slides/slide21.xml" Id="R03a4fbf88e954f45" /><Relationship Type="http://schemas.openxmlformats.org/officeDocument/2006/relationships/slide" Target="/ppt/slides/slide22.xml" Id="R173b667e4ed0492b" /><Relationship Type="http://schemas.openxmlformats.org/officeDocument/2006/relationships/slide" Target="/ppt/slides/slide23.xml" Id="Rb6f0607e6ce040c4" /><Relationship Type="http://schemas.openxmlformats.org/officeDocument/2006/relationships/slide" Target="/ppt/slides/slide24.xml" Id="Rf65c8d1923174280" /><Relationship Type="http://schemas.openxmlformats.org/officeDocument/2006/relationships/slide" Target="/ppt/slides/slide25.xml" Id="Rdfb448e6dc574602" /><Relationship Type="http://schemas.openxmlformats.org/officeDocument/2006/relationships/slide" Target="/ppt/slides/slide26.xml" Id="Rc9cb31e9be8e47bb" /><Relationship Type="http://schemas.openxmlformats.org/officeDocument/2006/relationships/slide" Target="/ppt/slides/slide27.xml" Id="Rff1b623bcc1c45f5" /><Relationship Type="http://schemas.openxmlformats.org/officeDocument/2006/relationships/slide" Target="/ppt/slides/slide28.xml" Id="Rf0ab89b6537b433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843dcfee4414c2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b500ac5bc774564" /><Relationship Type="http://schemas.openxmlformats.org/officeDocument/2006/relationships/notesMaster" Target="/ppt/notesMasters/notesMaster1.xml" Id="R773ea29caebd484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fa1cdf77d8c4b98" /><Relationship Type="http://schemas.openxmlformats.org/officeDocument/2006/relationships/notesMaster" Target="/ppt/notesMasters/notesMaster1.xml" Id="R1b2ab34ada02496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47fa1ff741141b1" /><Relationship Type="http://schemas.openxmlformats.org/officeDocument/2006/relationships/notesMaster" Target="/ppt/notesMasters/notesMaster1.xml" Id="R1a392c1491c248b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3c00d54b1ca4dcc" /><Relationship Type="http://schemas.openxmlformats.org/officeDocument/2006/relationships/notesMaster" Target="/ppt/notesMasters/notesMaster1.xml" Id="Rdd62b035c4254c8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3ee212f340c4876" /><Relationship Type="http://schemas.openxmlformats.org/officeDocument/2006/relationships/notesMaster" Target="/ppt/notesMasters/notesMaster1.xml" Id="Rd08eff2a2dc648f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dcd120eef2d4c42" /><Relationship Type="http://schemas.openxmlformats.org/officeDocument/2006/relationships/notesMaster" Target="/ppt/notesMasters/notesMaster1.xml" Id="Rce25c6a4db914d7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eeb6db09fab434d" /><Relationship Type="http://schemas.openxmlformats.org/officeDocument/2006/relationships/notesMaster" Target="/ppt/notesMasters/notesMaster1.xml" Id="R6a971263a246416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21d010711c346fd" /><Relationship Type="http://schemas.openxmlformats.org/officeDocument/2006/relationships/notesMaster" Target="/ppt/notesMasters/notesMaster1.xml" Id="R7b54d3ddd6a64db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70dc4f37df448eb" /><Relationship Type="http://schemas.openxmlformats.org/officeDocument/2006/relationships/notesMaster" Target="/ppt/notesMasters/notesMaster1.xml" Id="R04aebe027f1046f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e2e2a68ef364f62" /><Relationship Type="http://schemas.openxmlformats.org/officeDocument/2006/relationships/notesMaster" Target="/ppt/notesMasters/notesMaster1.xml" Id="R8774a796f3e74a6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f6a09531a734155" /><Relationship Type="http://schemas.openxmlformats.org/officeDocument/2006/relationships/notesMaster" Target="/ppt/notesMasters/notesMaster1.xml" Id="R4442bf7443c641d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09b06dd0d644f84" /><Relationship Type="http://schemas.openxmlformats.org/officeDocument/2006/relationships/notesMaster" Target="/ppt/notesMasters/notesMaster1.xml" Id="R8a5da33ad81b4f60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909816048a2641e3" /><Relationship Type="http://schemas.openxmlformats.org/officeDocument/2006/relationships/notesMaster" Target="/ppt/notesMasters/notesMaster1.xml" Id="R37ad57032634445c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a53698f0a19f47d0" /><Relationship Type="http://schemas.openxmlformats.org/officeDocument/2006/relationships/notesMaster" Target="/ppt/notesMasters/notesMaster1.xml" Id="R4dc750b36ca84fa5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14155fae9cc9407d" /><Relationship Type="http://schemas.openxmlformats.org/officeDocument/2006/relationships/notesMaster" Target="/ppt/notesMasters/notesMaster1.xml" Id="R6600f199639d4f17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f659b514df8f4d5e" /><Relationship Type="http://schemas.openxmlformats.org/officeDocument/2006/relationships/notesMaster" Target="/ppt/notesMasters/notesMaster1.xml" Id="R308e5903b9904a84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7c67fa07c90f4b55" /><Relationship Type="http://schemas.openxmlformats.org/officeDocument/2006/relationships/notesMaster" Target="/ppt/notesMasters/notesMaster1.xml" Id="Rb83b13f67cf24347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6d38c034a3d4458a" /><Relationship Type="http://schemas.openxmlformats.org/officeDocument/2006/relationships/notesMaster" Target="/ppt/notesMasters/notesMaster1.xml" Id="R97d87f046e1841de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6924ad98819e427c" /><Relationship Type="http://schemas.openxmlformats.org/officeDocument/2006/relationships/notesMaster" Target="/ppt/notesMasters/notesMaster1.xml" Id="R5328743b55894eac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048d316aca4749f5" /><Relationship Type="http://schemas.openxmlformats.org/officeDocument/2006/relationships/notesMaster" Target="/ppt/notesMasters/notesMaster1.xml" Id="R3fa657f675e84cc9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5cad996f25094cce" /><Relationship Type="http://schemas.openxmlformats.org/officeDocument/2006/relationships/notesMaster" Target="/ppt/notesMasters/notesMaster1.xml" Id="Re1a2c53248104663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304a1a02742a41f3" /><Relationship Type="http://schemas.openxmlformats.org/officeDocument/2006/relationships/notesMaster" Target="/ppt/notesMasters/notesMaster1.xml" Id="R4a1aecda203540f3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d72e70bc896f4c3c" /><Relationship Type="http://schemas.openxmlformats.org/officeDocument/2006/relationships/notesMaster" Target="/ppt/notesMasters/notesMaster1.xml" Id="R33e8a8fbf9e8493c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185b9e1d1e14467c" /><Relationship Type="http://schemas.openxmlformats.org/officeDocument/2006/relationships/notesMaster" Target="/ppt/notesMasters/notesMaster1.xml" Id="Ra69ca58199ff43b6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4ae93b5b8c6b4b4e" /><Relationship Type="http://schemas.openxmlformats.org/officeDocument/2006/relationships/notesMaster" Target="/ppt/notesMasters/notesMaster1.xml" Id="Rd50ac143bdcb42d5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78fc23f243694c17" /><Relationship Type="http://schemas.openxmlformats.org/officeDocument/2006/relationships/notesMaster" Target="/ppt/notesMasters/notesMaster1.xml" Id="Raa47014ef2c148b3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4534ad6dfbf0469c" /><Relationship Type="http://schemas.openxmlformats.org/officeDocument/2006/relationships/notesMaster" Target="/ppt/notesMasters/notesMaster1.xml" Id="Rcb4ff5c7a37d4f8c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1a04b6129db7476a" /><Relationship Type="http://schemas.openxmlformats.org/officeDocument/2006/relationships/notesMaster" Target="/ppt/notesMasters/notesMaster1.xml" Id="R8a39c5d488dc44e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c209de3cb1e4b9a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b85e60fc110430d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22f3874ec4f494f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878812c4e864d2e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7ad0c0a036e4d65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8e9b222f1ba4fc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F928E30-FDB4-4960-B7FE-EB48502CBCF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64979901-6D83-4708-9E3A-7354F0664427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CB6B9302-76F8-41E3-8150-11876416237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490C187-A464-4FDD-B375-107B91AFE40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2E6861DE-FE78-4765-AD88-E9B4F0F0201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020336C4-027A-49FA-BB84-89B67711801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E56DA7B-FE7B-4A84-9285-38CE35EC325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9F83C831-7778-48FF-ACBE-A8A85451998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5E2B2FB-6BF6-43F9-980E-92AFD608966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224EF2C1-B9E5-4F64-BF69-5343049D70B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2d4f4acdc24408e" /><Relationship Type="http://schemas.openxmlformats.org/officeDocument/2006/relationships/slideLayout" Target="/ppt/slideLayouts/slideLayout1.xml" Id="Rd3fb1094ab884df1" /><Relationship Type="http://schemas.openxmlformats.org/officeDocument/2006/relationships/slideLayout" Target="/ppt/slideLayouts/slideLayout2.xml" Id="R07367db075774955" /><Relationship Type="http://schemas.openxmlformats.org/officeDocument/2006/relationships/slideLayout" Target="/ppt/slideLayouts/slideLayout3.xml" Id="R4ee9c6b533ef4c70" /><Relationship Type="http://schemas.openxmlformats.org/officeDocument/2006/relationships/slideLayout" Target="/ppt/slideLayouts/slideLayout4.xml" Id="Rcc50f821727d47df" /><Relationship Type="http://schemas.openxmlformats.org/officeDocument/2006/relationships/slideLayout" Target="/ppt/slideLayouts/slideLayout5.xml" Id="R60dff0d5fe15410e" /><Relationship Type="http://schemas.openxmlformats.org/officeDocument/2006/relationships/slideLayout" Target="/ppt/slideLayouts/slideLayout6.xml" Id="Ra5147163f504432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3fb1094ab884df1"/>
    <p:sldLayoutId xmlns:r="http://schemas.openxmlformats.org/officeDocument/2006/relationships" id="2147483650" r:id="R07367db075774955"/>
    <p:sldLayoutId xmlns:r="http://schemas.openxmlformats.org/officeDocument/2006/relationships" id="2147483651" r:id="R4ee9c6b533ef4c70"/>
    <p:sldLayoutId xmlns:r="http://schemas.openxmlformats.org/officeDocument/2006/relationships" id="2147483652" r:id="Rcc50f821727d47df"/>
    <p:sldLayoutId xmlns:r="http://schemas.openxmlformats.org/officeDocument/2006/relationships" id="2147483653" r:id="R60dff0d5fe15410e"/>
    <p:sldLayoutId xmlns:r="http://schemas.openxmlformats.org/officeDocument/2006/relationships" id="2147483654" r:id="Ra5147163f504432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b9cb975a3e44dcc" /><Relationship Type="http://schemas.openxmlformats.org/officeDocument/2006/relationships/image" Target="/ppt/media/image.png" Id="R857d1dcab46341dd" /><Relationship Type="http://schemas.openxmlformats.org/officeDocument/2006/relationships/notesSlide" Target="/ppt/notesSlides/notesSlide1.xml" Id="R2d65fef990c7467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26ed9cc7da94068" /><Relationship Type="http://schemas.openxmlformats.org/officeDocument/2006/relationships/notesSlide" Target="/ppt/notesSlides/notesSlide2.xml" Id="Rce20fc436d9c4ba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b6f9b32310947b6" /><Relationship Type="http://schemas.openxmlformats.org/officeDocument/2006/relationships/notesSlide" Target="/ppt/notesSlides/notesSlide3.xml" Id="Rcd8121c5f2e54ba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d0e08aa611a406b" /><Relationship Type="http://schemas.openxmlformats.org/officeDocument/2006/relationships/notesSlide" Target="/ppt/notesSlides/notesSlide4.xml" Id="Rf28b5daf53c5479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9f01e9b6df84232" /><Relationship Type="http://schemas.openxmlformats.org/officeDocument/2006/relationships/notesSlide" Target="/ppt/notesSlides/notesSlide5.xml" Id="Rd7ab850c092c414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077dc3fc2054f7e" /><Relationship Type="http://schemas.openxmlformats.org/officeDocument/2006/relationships/notesSlide" Target="/ppt/notesSlides/notesSlide6.xml" Id="R030123968d95474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d309fbb6c4e40ea" /><Relationship Type="http://schemas.openxmlformats.org/officeDocument/2006/relationships/notesSlide" Target="/ppt/notesSlides/notesSlide7.xml" Id="Rc3fab60498a140a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70630ffd81a42d0" /><Relationship Type="http://schemas.openxmlformats.org/officeDocument/2006/relationships/notesSlide" Target="/ppt/notesSlides/notesSlide8.xml" Id="R5e650d1c93ed47c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f55c938d27546b8" /><Relationship Type="http://schemas.openxmlformats.org/officeDocument/2006/relationships/notesSlide" Target="/ppt/notesSlides/notesSlide9.xml" Id="R2f0aec56289f4c9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96a4e0a4eec40b6" /><Relationship Type="http://schemas.openxmlformats.org/officeDocument/2006/relationships/notesSlide" Target="/ppt/notesSlides/notesSlide10.xml" Id="Rc77ac69cbc0d480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d4ee54d7e814b2b" /><Relationship Type="http://schemas.openxmlformats.org/officeDocument/2006/relationships/notesSlide" Target="/ppt/notesSlides/notesSlide11.xml" Id="R23388965d9b14ea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31fa297f3a84649" /><Relationship Type="http://schemas.openxmlformats.org/officeDocument/2006/relationships/notesSlide" Target="/ppt/notesSlides/notesSlide12.xml" Id="R64d97110e8e8426d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dcc0d92814a467c" /><Relationship Type="http://schemas.openxmlformats.org/officeDocument/2006/relationships/notesSlide" Target="/ppt/notesSlides/notesSlide13.xml" Id="Rda2ebf43e0ed45e8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91f54d557b5409d" /><Relationship Type="http://schemas.openxmlformats.org/officeDocument/2006/relationships/notesSlide" Target="/ppt/notesSlides/notesSlide14.xml" Id="R979a80551cfc4e6f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d6615c3e9b340d6" /><Relationship Type="http://schemas.openxmlformats.org/officeDocument/2006/relationships/notesSlide" Target="/ppt/notesSlides/notesSlide15.xml" Id="Rf95ef978cd5d42b6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c663c7b471e41d8" /><Relationship Type="http://schemas.openxmlformats.org/officeDocument/2006/relationships/notesSlide" Target="/ppt/notesSlides/notesSlide16.xml" Id="Rb1cb8d6eaaa34cdd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d74ce3547db4b2e" /><Relationship Type="http://schemas.openxmlformats.org/officeDocument/2006/relationships/notesSlide" Target="/ppt/notesSlides/notesSlide17.xml" Id="R70831e2fba6a4ee2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74e2f4958a640fa" /><Relationship Type="http://schemas.openxmlformats.org/officeDocument/2006/relationships/notesSlide" Target="/ppt/notesSlides/notesSlide18.xml" Id="R7d2a20cc85274c0b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40072be31ca49b5" /><Relationship Type="http://schemas.openxmlformats.org/officeDocument/2006/relationships/notesSlide" Target="/ppt/notesSlides/notesSlide19.xml" Id="Rc0433c997fd64d38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f74c32d3a044c4d" /><Relationship Type="http://schemas.openxmlformats.org/officeDocument/2006/relationships/notesSlide" Target="/ppt/notesSlides/notesSlide20.xml" Id="R1b9ce81bec1d4d55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18bebe2d1b242d7" /><Relationship Type="http://schemas.openxmlformats.org/officeDocument/2006/relationships/notesSlide" Target="/ppt/notesSlides/notesSlide21.xml" Id="R59db18fd90584ae2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a08c29bbce9401b" /><Relationship Type="http://schemas.openxmlformats.org/officeDocument/2006/relationships/notesSlide" Target="/ppt/notesSlides/notesSlide22.xml" Id="R5b7d9682651442a6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a7a6bb21d55425b" /><Relationship Type="http://schemas.openxmlformats.org/officeDocument/2006/relationships/notesSlide" Target="/ppt/notesSlides/notesSlide23.xml" Id="Re6b331ab955648f0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2f844132f47402b" /><Relationship Type="http://schemas.openxmlformats.org/officeDocument/2006/relationships/notesSlide" Target="/ppt/notesSlides/notesSlide24.xml" Id="R89e019cfc6ed40dc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3db590289e04fb1" /><Relationship Type="http://schemas.openxmlformats.org/officeDocument/2006/relationships/notesSlide" Target="/ppt/notesSlides/notesSlide25.xml" Id="R088321ca389f43f5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2968010233a4eb3" /><Relationship Type="http://schemas.openxmlformats.org/officeDocument/2006/relationships/notesSlide" Target="/ppt/notesSlides/notesSlide26.xml" Id="R870e89de448244ba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6431f57cdc74cb3" /><Relationship Type="http://schemas.openxmlformats.org/officeDocument/2006/relationships/notesSlide" Target="/ppt/notesSlides/notesSlide27.xml" Id="Rfac3200b9195417f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2b7726d3e8c4ebe" /><Relationship Type="http://schemas.openxmlformats.org/officeDocument/2006/relationships/notesSlide" Target="/ppt/notesSlides/notesSlide28.xml" Id="R19b5677471414ff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E0D1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2C4D5D-9132-4F45-836B-F82A6FF016A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7d1dcab46341dd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3F671D-CD32-4A0A-9C77-2F6AB8A6B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905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01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E24A8D-6A84-47F3-A753-697C1A579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975" b="1" i="0">
                <a:solidFill>
                  <a:srgbClr val="D567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75" b="1" i="0">
                <a:solidFill>
                  <a:srgbClr val="D5673B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D5673B"/>
                </a:solidFill>
                <a:latin typeface="Arial"/>
                <a:ea typeface="Arial"/>
                <a:cs typeface="Arial"/>
              </a:rPr>
              <a:t>EVENTO INTEGRADOR · MATEMÁTICA COMPUTACIONAL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3DB3FD-E25E-4B5D-8115-B09B6FC3A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46672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4875" b="1" i="0">
                <a:solidFill>
                  <a:srgbClr val="F4ECE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4875" b="1" i="0">
                <a:solidFill>
                  <a:srgbClr val="F4ECE3"/>
                </a:solidFill>
                <a:latin typeface="Arial"/>
                <a:ea typeface="Arial"/>
                <a:cs typeface="Arial"/>
              </a:defRPr>
            </a:pPr>
            <a:r>
              <a:rPr sz="4875" b="1" i="0">
                <a:solidFill>
                  <a:srgbClr val="F4ECE3"/>
                </a:solidFill>
                <a:latin typeface="Arial"/>
                <a:ea typeface="Arial"/>
                <a:cs typeface="Arial"/>
              </a:rPr>
              <a:t>O Último</a:t>
            </a:r>
          </a:p>
          <a:p xmlns:a="http://schemas.openxmlformats.org/drawingml/2006/main">
            <a:pPr>
              <a:defRPr sz="4875" b="1" i="0">
                <a:solidFill>
                  <a:srgbClr val="F4ECE3"/>
                </a:solidFill>
                <a:latin typeface="Arial"/>
                <a:ea typeface="Arial"/>
                <a:cs typeface="Arial"/>
              </a:defRPr>
            </a:pPr>
            <a:r>
              <a:rPr sz="4875" b="1" i="0">
                <a:solidFill>
                  <a:srgbClr val="F4ECE3"/>
                </a:solidFill>
                <a:latin typeface="Arial"/>
                <a:ea typeface="Arial"/>
                <a:cs typeface="Arial"/>
              </a:rPr>
              <a:t>Axioma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B571C9-DADA-46D6-B270-A0F3AE962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38500"/>
            <a:ext cx="447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875" b="0" i="0">
                <a:solidFill>
                  <a:srgbClr val="D4A86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 i="0">
                <a:solidFill>
                  <a:srgbClr val="D4A868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solidFill>
                  <a:srgbClr val="D4A868"/>
                </a:solidFill>
                <a:latin typeface="Arial"/>
                <a:ea typeface="Arial"/>
                <a:cs typeface="Arial"/>
              </a:rPr>
              <a:t>Os Sete Selos do Paradoxo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A3871D-688B-4E0A-928D-0716F1C6F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0050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275" b="0" i="0">
                <a:solidFill>
                  <a:srgbClr val="B5AAA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 i="0">
                <a:solidFill>
                  <a:srgbClr val="B5AAA4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B5AAA4"/>
                </a:solidFill>
                <a:latin typeface="Arial"/>
                <a:ea typeface="Arial"/>
                <a:cs typeface="Arial"/>
              </a:rPr>
              <a:t>Uma experiência colaborativa de 180 minutos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9888CF-4A6C-44CF-BB79-B6A984BB4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629150"/>
            <a:ext cx="1619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67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3911D2-7F05-4D5D-AE68-FAF34B872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8577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>
            <a:defPPr>
              <a:defRPr sz="975" b="1" i="0">
                <a:solidFill>
                  <a:srgbClr val="7E747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75" b="1" i="0">
                <a:solidFill>
                  <a:srgbClr val="7E7471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7E7471"/>
                </a:solidFill>
                <a:latin typeface="Arial"/>
                <a:ea typeface="Arial"/>
                <a:cs typeface="Arial"/>
              </a:rPr>
              <a:t>Apresentação para projeção em sala</a:t>
            </a:r>
          </a:p>
        </p:txBody>
      </p:sp>
    </p:spTree>
    <p:extLst>
      <p:ext uri="{BB962C8B-B14F-4D97-AF65-F5344CB8AC3E}">
        <p14:creationId xmlns:p14="http://schemas.microsoft.com/office/powerpoint/2010/main" val="119060966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E0D1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1142415-CD61-4C37-8FD7-D163B7A89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975" b="1" i="0">
                <a:solidFill>
                  <a:srgbClr val="D567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75" b="1" i="0">
                <a:solidFill>
                  <a:srgbClr val="D5673B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D5673B"/>
                </a:solidFill>
                <a:latin typeface="Arial"/>
                <a:ea typeface="Arial"/>
                <a:cs typeface="Arial"/>
              </a:rPr>
              <a:t>PRÓLOGO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C417C9-57D0-4A41-B980-7080F2495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971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3150" b="1" i="0">
                <a:solidFill>
                  <a:srgbClr val="F4ECE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 i="0">
                <a:solidFill>
                  <a:srgbClr val="F4ECE3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F4ECE3"/>
                </a:solidFill>
                <a:latin typeface="Arial"/>
                <a:ea typeface="Arial"/>
                <a:cs typeface="Arial"/>
              </a:rPr>
              <a:t>A oitava operação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2B092D-DC64-4097-8B48-35EAB52F5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7620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5773"/>
          </a:bodyPr>
          <a:lstStyle xmlns:a="http://schemas.openxmlformats.org/drawingml/2006/main">
            <a:defPPr>
              <a:defRPr sz="2100" b="1" i="0">
                <a:solidFill>
                  <a:srgbClr val="F4ECE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1" i="0">
                <a:solidFill>
                  <a:srgbClr val="F4ECE3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F4ECE3"/>
                </a:solidFill>
                <a:latin typeface="Arial"/>
                <a:ea typeface="Arial"/>
                <a:cs typeface="Arial"/>
              </a:rPr>
              <a:t>Às 23h17, o sistema da universidade registrou uma operação que não pertence a nenhuma das sete famílias conhecidas.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02E06D-C048-4B86-9D9E-0772ED59C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09900"/>
            <a:ext cx="76200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650" b="0" i="0">
                <a:solidFill>
                  <a:srgbClr val="B5AAA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0" i="0">
                <a:solidFill>
                  <a:srgbClr val="B5AAA4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B5AAA4"/>
                </a:solidFill>
                <a:latin typeface="Arial"/>
                <a:ea typeface="Arial"/>
                <a:cs typeface="Arial"/>
              </a:rPr>
              <a:t>Desde então, portas surgem onde havia paredes. Cada uma responde a uma prova matemática. Uma resposta sem evidência alimenta o paradoxo.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FF5B0F-EB49-464E-BFD4-9A175D42D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48200"/>
            <a:ext cx="7620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500" b="0" i="0">
                <a:solidFill>
                  <a:srgbClr val="D4A86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0" i="0">
                <a:solidFill>
                  <a:srgbClr val="D4A868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D4A868"/>
                </a:solidFill>
                <a:latin typeface="Arial"/>
                <a:ea typeface="Arial"/>
                <a:cs typeface="Arial"/>
              </a:rPr>
              <a:t>A turma entra como uma expedição. As equipes saem apenas quando as sete runas formarem a chave final.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FD4CFB-0B42-49A9-83B0-4913E877E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428750"/>
            <a:ext cx="1714500" cy="2857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1B181D"/>
          </a:solidFill>
          <a:ln xmlns:a="http://schemas.openxmlformats.org/drawingml/2006/main" w="9525">
            <a:solidFill>
              <a:srgbClr val="40363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64E150-DD0A-499D-99BF-EA73B0B61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1762125"/>
            <a:ext cx="1047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6581"/>
          </a:bodyPr>
          <a:lstStyle xmlns:a="http://schemas.openxmlformats.org/drawingml/2006/main">
            <a:defPPr>
              <a:defRPr sz="5850" b="1" i="0">
                <a:solidFill>
                  <a:srgbClr val="D567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5850" b="1" i="0">
                <a:solidFill>
                  <a:srgbClr val="D5673B"/>
                </a:solidFill>
                <a:latin typeface="Arial"/>
                <a:ea typeface="Arial"/>
                <a:cs typeface="Arial"/>
              </a:defRPr>
            </a:pPr>
            <a:r>
              <a:rPr sz="5850" b="1" i="0">
                <a:solidFill>
                  <a:srgbClr val="D5673B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154B75-1C28-4F53-BFF8-C3E7EC8BA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280035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125" b="1" i="0">
                <a:solidFill>
                  <a:srgbClr val="B5AAA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1" i="0">
                <a:solidFill>
                  <a:srgbClr val="B5AAA4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B5AAA4"/>
                </a:solidFill>
                <a:latin typeface="Arial"/>
                <a:ea typeface="Arial"/>
                <a:cs typeface="Arial"/>
              </a:rPr>
              <a:t>SELOS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A2FC66-C0B0-4776-A1F7-E34FD7355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3333750"/>
            <a:ext cx="1047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3750" b="1" i="0">
                <a:solidFill>
                  <a:srgbClr val="D4A86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750" b="1" i="0">
                <a:solidFill>
                  <a:srgbClr val="D4A868"/>
                </a:solidFill>
                <a:latin typeface="Arial"/>
                <a:ea typeface="Arial"/>
                <a:cs typeface="Arial"/>
              </a:defRPr>
            </a:pPr>
            <a:r>
              <a:rPr sz="3750" b="1" i="0">
                <a:solidFill>
                  <a:srgbClr val="D4A868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769CC3-01BD-44F3-A2CD-4A1050C91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4048125"/>
            <a:ext cx="1285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900" b="1" i="0">
                <a:solidFill>
                  <a:srgbClr val="B5AAA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00" b="1" i="0">
                <a:solidFill>
                  <a:srgbClr val="B5AAA4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B5AAA4"/>
                </a:solidFill>
                <a:latin typeface="Arial"/>
                <a:ea typeface="Arial"/>
                <a:cs typeface="Arial"/>
              </a:rPr>
              <a:t>PORTA FINAL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299ACE-799F-4738-B73F-8E0769747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428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>
            <a:defPPr>
              <a:defRPr sz="750" b="1" i="0">
                <a:solidFill>
                  <a:srgbClr val="7E747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750" b="1" i="0">
                <a:solidFill>
                  <a:srgbClr val="7E7471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7E7471"/>
                </a:solidFill>
                <a:latin typeface="Arial"/>
                <a:ea typeface="Arial"/>
                <a:cs typeface="Arial"/>
              </a:rPr>
              <a:t>O ÚLTIMO AXIOMA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8A9E83D-47AA-48E4-B08C-37B855384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>
            <a:defPPr>
              <a:defRPr sz="750" b="1" i="0">
                <a:solidFill>
                  <a:srgbClr val="7E747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750" b="1" i="0">
                <a:solidFill>
                  <a:srgbClr val="7E7471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7E7471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86207464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E0D1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028A2F0-93A3-4B72-BFD4-FAC4DDFA1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975" b="1" i="0">
                <a:solidFill>
                  <a:srgbClr val="D567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75" b="1" i="0">
                <a:solidFill>
                  <a:srgbClr val="D5673B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D5673B"/>
                </a:solidFill>
                <a:latin typeface="Arial"/>
                <a:ea typeface="Arial"/>
                <a:cs typeface="Arial"/>
              </a:rPr>
              <a:t>OBJETIVO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D3E577-90D0-4AD1-9C37-094048FC2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971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3150" b="1" i="0">
                <a:solidFill>
                  <a:srgbClr val="F4ECE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 i="0">
                <a:solidFill>
                  <a:srgbClr val="F4ECE3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F4ECE3"/>
                </a:solidFill>
                <a:latin typeface="Arial"/>
                <a:ea typeface="Arial"/>
                <a:cs typeface="Arial"/>
              </a:rPr>
              <a:t>A condição de saída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4BD016-9FBC-4B9C-B44A-3F908B5A1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381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67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1BE80C-5848-4CBC-9C31-37443D81A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52625"/>
            <a:ext cx="4686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>
            <a:defPPr>
              <a:defRPr sz="1350" b="1" i="0">
                <a:solidFill>
                  <a:srgbClr val="F4ECE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1" i="0">
                <a:solidFill>
                  <a:srgbClr val="F4ECE3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4ECE3"/>
                </a:solidFill>
                <a:latin typeface="Arial"/>
                <a:ea typeface="Arial"/>
                <a:cs typeface="Arial"/>
              </a:rPr>
              <a:t>Romper os sete selos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9830A9-14AB-49B5-8327-148CF3348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76475"/>
            <a:ext cx="4686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125" b="0" i="0">
                <a:solidFill>
                  <a:srgbClr val="B5AAA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0" i="0">
                <a:solidFill>
                  <a:srgbClr val="B5AAA4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B5AAA4"/>
                </a:solidFill>
                <a:latin typeface="Arial"/>
                <a:ea typeface="Arial"/>
                <a:cs typeface="Arial"/>
              </a:rPr>
              <a:t>Cada selo exige uma resposta matemática e quatro registros de evidência.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1A00D4-F6AA-487F-B46F-1A21FA9AB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0"/>
            <a:ext cx="381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A8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E6789B-2085-4437-B5FB-2333C4D6A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38500"/>
            <a:ext cx="4686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>
            <a:defPPr>
              <a:defRPr sz="1350" b="1" i="0">
                <a:solidFill>
                  <a:srgbClr val="F4ECE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1" i="0">
                <a:solidFill>
                  <a:srgbClr val="F4ECE3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4ECE3"/>
                </a:solidFill>
                <a:latin typeface="Arial"/>
                <a:ea typeface="Arial"/>
                <a:cs typeface="Arial"/>
              </a:rPr>
              <a:t>Preservar fragmentos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43BB14-74F9-4F70-A346-40CE6754B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62350"/>
            <a:ext cx="4686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125" b="0" i="0">
                <a:solidFill>
                  <a:srgbClr val="B5AAA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0" i="0">
                <a:solidFill>
                  <a:srgbClr val="B5AAA4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B5AAA4"/>
                </a:solidFill>
                <a:latin typeface="Arial"/>
                <a:ea typeface="Arial"/>
                <a:cs typeface="Arial"/>
              </a:rPr>
              <a:t>A equipe começa com quatro pistas. Cada pista aberta consome um fragmento.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6B2F00-83F5-4380-866D-B7675FB1B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24375"/>
            <a:ext cx="381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9BFC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D66AB6-F1FC-453F-B7E9-A34251845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524375"/>
            <a:ext cx="4686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>
            <a:defPPr>
              <a:defRPr sz="1350" b="1" i="0">
                <a:solidFill>
                  <a:srgbClr val="F4ECE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1" i="0">
                <a:solidFill>
                  <a:srgbClr val="F4ECE3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4ECE3"/>
                </a:solidFill>
                <a:latin typeface="Arial"/>
                <a:ea typeface="Arial"/>
                <a:cs typeface="Arial"/>
              </a:rPr>
              <a:t>Abrir a câmara final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CAE6ED6-13D1-4524-968C-DFD1738F6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848225"/>
            <a:ext cx="4686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125" b="0" i="0">
                <a:solidFill>
                  <a:srgbClr val="B5AAA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0" i="0">
                <a:solidFill>
                  <a:srgbClr val="B5AAA4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B5AAA4"/>
                </a:solidFill>
                <a:latin typeface="Arial"/>
                <a:ea typeface="Arial"/>
                <a:cs typeface="Arial"/>
              </a:rPr>
              <a:t>As runas, as configurações e a conjunção final formam a chave de contenção.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E8FF794-97DE-4B11-9902-0A23051FB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57375"/>
            <a:ext cx="3238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8100" b="1" i="0">
                <a:solidFill>
                  <a:srgbClr val="D567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8100" b="1" i="0">
                <a:solidFill>
                  <a:srgbClr val="D5673B"/>
                </a:solidFill>
                <a:latin typeface="Arial"/>
                <a:ea typeface="Arial"/>
                <a:cs typeface="Arial"/>
              </a:defRPr>
            </a:pPr>
            <a:r>
              <a:rPr sz="8100" b="1" i="0">
                <a:solidFill>
                  <a:srgbClr val="D5673B"/>
                </a:solidFill>
                <a:latin typeface="Arial"/>
                <a:ea typeface="Arial"/>
                <a:cs typeface="Arial"/>
              </a:rPr>
              <a:t>900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2A7C423-C810-4FAD-B1D6-06C0536DA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171825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8000"/>
          </a:bodyPr>
          <a:lstStyle xmlns:a="http://schemas.openxmlformats.org/drawingml/2006/main">
            <a:defPPr>
              <a:defRPr sz="1875" b="0" i="0">
                <a:solidFill>
                  <a:srgbClr val="B5AAA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 i="0">
                <a:solidFill>
                  <a:srgbClr val="B5AAA4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solidFill>
                  <a:srgbClr val="B5AAA4"/>
                </a:solidFill>
                <a:latin typeface="Arial"/>
                <a:ea typeface="Arial"/>
                <a:cs typeface="Arial"/>
              </a:rPr>
              <a:t>pontos possíveis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6574830-D32C-49D5-B6FD-9593F6546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000500"/>
            <a:ext cx="314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2100" b="1" i="0">
                <a:solidFill>
                  <a:srgbClr val="F4ECE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1" i="0">
                <a:solidFill>
                  <a:srgbClr val="F4ECE3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F4ECE3"/>
                </a:solidFill>
                <a:latin typeface="Arial"/>
                <a:ea typeface="Arial"/>
                <a:cs typeface="Arial"/>
              </a:rPr>
              <a:t>700 nos selos</a:t>
            </a:r>
          </a:p>
          <a:p xmlns:a="http://schemas.openxmlformats.org/drawingml/2006/main">
            <a:pPr>
              <a:defRPr sz="2100" b="1" i="0">
                <a:solidFill>
                  <a:srgbClr val="F4ECE3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F4ECE3"/>
                </a:solidFill>
                <a:latin typeface="Arial"/>
                <a:ea typeface="Arial"/>
                <a:cs typeface="Arial"/>
              </a:rPr>
              <a:t>200 na câmara final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6FA5FB6-043C-4832-8068-BB3CB6A29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428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>
            <a:defPPr>
              <a:defRPr sz="750" b="1" i="0">
                <a:solidFill>
                  <a:srgbClr val="7E747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750" b="1" i="0">
                <a:solidFill>
                  <a:srgbClr val="7E7471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7E7471"/>
                </a:solidFill>
                <a:latin typeface="Arial"/>
                <a:ea typeface="Arial"/>
                <a:cs typeface="Arial"/>
              </a:rPr>
              <a:t>O ÚLTIMO AXIOMA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40A5D7E-1936-4FBA-8FD2-68C113B27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>
            <a:defPPr>
              <a:defRPr sz="750" b="1" i="0">
                <a:solidFill>
                  <a:srgbClr val="7E747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750" b="1" i="0">
                <a:solidFill>
                  <a:srgbClr val="7E7471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7E7471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59718014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E0D1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4501C99-C472-45E7-BC09-642F7373E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975" b="1" i="0">
                <a:solidFill>
                  <a:srgbClr val="D567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75" b="1" i="0">
                <a:solidFill>
                  <a:srgbClr val="D5673B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D5673B"/>
                </a:solidFill>
                <a:latin typeface="Arial"/>
                <a:ea typeface="Arial"/>
                <a:cs typeface="Arial"/>
              </a:rPr>
              <a:t>DURAÇÃO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C2E080-3E8F-47C2-B6CA-3B633BB0C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971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3150" b="1" i="0">
                <a:solidFill>
                  <a:srgbClr val="F4ECE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 i="0">
                <a:solidFill>
                  <a:srgbClr val="F4ECE3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F4ECE3"/>
                </a:solidFill>
                <a:latin typeface="Arial"/>
                <a:ea typeface="Arial"/>
                <a:cs typeface="Arial"/>
              </a:rPr>
              <a:t>Ritmo da expedição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21DB9B-98F5-4122-8241-4938D54C6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52600"/>
            <a:ext cx="114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425" b="1" i="0">
                <a:solidFill>
                  <a:srgbClr val="D567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 b="1" i="0">
                <a:solidFill>
                  <a:srgbClr val="D5673B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D5673B"/>
                </a:solidFill>
                <a:latin typeface="Arial"/>
                <a:ea typeface="Arial"/>
                <a:cs typeface="Arial"/>
              </a:rPr>
              <a:t>00–15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BE03AB-CB52-4E3C-9768-4757E06D4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1885950"/>
            <a:ext cx="190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036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4954D9-1A97-45B4-A745-77E787BB4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1752600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350" b="1" i="0">
                <a:solidFill>
                  <a:srgbClr val="F4ECE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1" i="0">
                <a:solidFill>
                  <a:srgbClr val="F4ECE3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4ECE3"/>
                </a:solidFill>
                <a:latin typeface="Arial"/>
                <a:ea typeface="Arial"/>
                <a:cs typeface="Arial"/>
              </a:rPr>
              <a:t>Entrada e equipes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D2D5D4-3E5E-459E-95B0-99BA48416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43150"/>
            <a:ext cx="114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425" b="1" i="0">
                <a:solidFill>
                  <a:srgbClr val="D567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 b="1" i="0">
                <a:solidFill>
                  <a:srgbClr val="D5673B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D5673B"/>
                </a:solidFill>
                <a:latin typeface="Arial"/>
                <a:ea typeface="Arial"/>
                <a:cs typeface="Arial"/>
              </a:rPr>
              <a:t>15–63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E0D78C-2E64-4ACD-91D6-FA9E9C1E6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476500"/>
            <a:ext cx="10001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036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FA4332-D752-4FEF-A0DD-CF5056487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2343150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350" b="1" i="0">
                <a:solidFill>
                  <a:srgbClr val="F4ECE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1" i="0">
                <a:solidFill>
                  <a:srgbClr val="F4ECE3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4ECE3"/>
                </a:solidFill>
                <a:latin typeface="Arial"/>
                <a:ea typeface="Arial"/>
                <a:cs typeface="Arial"/>
              </a:rPr>
              <a:t>Selos 1 a 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17D688-4870-46F0-BCB7-F8A14279B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33700"/>
            <a:ext cx="114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425" b="1" i="0">
                <a:solidFill>
                  <a:srgbClr val="D567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 b="1" i="0">
                <a:solidFill>
                  <a:srgbClr val="D5673B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D5673B"/>
                </a:solidFill>
                <a:latin typeface="Arial"/>
                <a:ea typeface="Arial"/>
                <a:cs typeface="Arial"/>
              </a:rPr>
              <a:t>63–72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5C55B22-F555-4AC8-A077-E5EF7AA25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067050"/>
            <a:ext cx="1809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036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71D727B-4876-421D-B1CC-24A965499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933700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350" b="1" i="0">
                <a:solidFill>
                  <a:srgbClr val="F4ECE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1" i="0">
                <a:solidFill>
                  <a:srgbClr val="F4ECE3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4ECE3"/>
                </a:solidFill>
                <a:latin typeface="Arial"/>
                <a:ea typeface="Arial"/>
                <a:cs typeface="Arial"/>
              </a:rPr>
              <a:t>Anomalia coletiva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6EA59C9-87E4-4708-B6F1-31C7B340D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24250"/>
            <a:ext cx="114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425" b="1" i="0">
                <a:solidFill>
                  <a:srgbClr val="D567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 b="1" i="0">
                <a:solidFill>
                  <a:srgbClr val="D5673B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D5673B"/>
                </a:solidFill>
                <a:latin typeface="Arial"/>
                <a:ea typeface="Arial"/>
                <a:cs typeface="Arial"/>
              </a:rPr>
              <a:t>72–128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0CC17FB-383E-4215-8A8A-DDCAAAED3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657600"/>
            <a:ext cx="26193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036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7420C16-95A7-49AD-B3D7-972D17130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3524250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350" b="1" i="0">
                <a:solidFill>
                  <a:srgbClr val="F4ECE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1" i="0">
                <a:solidFill>
                  <a:srgbClr val="F4ECE3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4ECE3"/>
                </a:solidFill>
                <a:latin typeface="Arial"/>
                <a:ea typeface="Arial"/>
                <a:cs typeface="Arial"/>
              </a:rPr>
              <a:t>Selos 4 a 6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E1E964A-EF0F-47E3-9345-AE8C5C7CB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114800"/>
            <a:ext cx="114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425" b="1" i="0">
                <a:solidFill>
                  <a:srgbClr val="D567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 b="1" i="0">
                <a:solidFill>
                  <a:srgbClr val="D5673B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D5673B"/>
                </a:solidFill>
                <a:latin typeface="Arial"/>
                <a:ea typeface="Arial"/>
                <a:cs typeface="Arial"/>
              </a:rPr>
              <a:t>128–149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E0A3D13-606F-4315-BF15-B1A53D524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248150"/>
            <a:ext cx="342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036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A98E574-67B7-4C51-BC95-7CB894121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114800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350" b="1" i="0">
                <a:solidFill>
                  <a:srgbClr val="F4ECE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1" i="0">
                <a:solidFill>
                  <a:srgbClr val="F4ECE3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4ECE3"/>
                </a:solidFill>
                <a:latin typeface="Arial"/>
                <a:ea typeface="Arial"/>
                <a:cs typeface="Arial"/>
              </a:rPr>
              <a:t>Selo 7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BDD1776-AB15-4315-B1AA-448E66835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705350"/>
            <a:ext cx="114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425" b="1" i="0">
                <a:solidFill>
                  <a:srgbClr val="D567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 b="1" i="0">
                <a:solidFill>
                  <a:srgbClr val="D5673B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D5673B"/>
                </a:solidFill>
                <a:latin typeface="Arial"/>
                <a:ea typeface="Arial"/>
                <a:cs typeface="Arial"/>
              </a:rPr>
              <a:t>149–170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CFAD62A-0205-47E0-AFF5-8CA380527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838700"/>
            <a:ext cx="42386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036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7D2038B-CDC7-44D7-8C9C-9D394498D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705350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350" b="1" i="0">
                <a:solidFill>
                  <a:srgbClr val="F4ECE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1" i="0">
                <a:solidFill>
                  <a:srgbClr val="F4ECE3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4ECE3"/>
                </a:solidFill>
                <a:latin typeface="Arial"/>
                <a:ea typeface="Arial"/>
                <a:cs typeface="Arial"/>
              </a:rPr>
              <a:t>Câmara final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64B38CD-80A7-4000-B7A7-9531BA245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95900"/>
            <a:ext cx="114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425" b="1" i="0">
                <a:solidFill>
                  <a:srgbClr val="D4A86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 b="1" i="0">
                <a:solidFill>
                  <a:srgbClr val="D4A868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D4A868"/>
                </a:solidFill>
                <a:latin typeface="Arial"/>
                <a:ea typeface="Arial"/>
                <a:cs typeface="Arial"/>
              </a:rPr>
              <a:t>170–180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E7CAD90-267C-45E8-A299-8B5F7A453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429250"/>
            <a:ext cx="5048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A8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EAB2C4E-BCC7-4428-95BB-3C004544D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295900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350" b="1" i="0">
                <a:solidFill>
                  <a:srgbClr val="F4ECE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1" i="0">
                <a:solidFill>
                  <a:srgbClr val="F4ECE3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4ECE3"/>
                </a:solidFill>
                <a:latin typeface="Arial"/>
                <a:ea typeface="Arial"/>
                <a:cs typeface="Arial"/>
              </a:rPr>
              <a:t>Debrief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3E8CFF8-FF99-4236-B854-5834219D8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428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>
            <a:defPPr>
              <a:defRPr sz="750" b="1" i="0">
                <a:solidFill>
                  <a:srgbClr val="7E747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750" b="1" i="0">
                <a:solidFill>
                  <a:srgbClr val="7E7471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7E7471"/>
                </a:solidFill>
                <a:latin typeface="Arial"/>
                <a:ea typeface="Arial"/>
                <a:cs typeface="Arial"/>
              </a:rPr>
              <a:t>O ÚLTIMO AXIOMA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412FAC2-BA18-4EF5-86CE-CEF3C9A9E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>
            <a:defPPr>
              <a:defRPr sz="750" b="1" i="0">
                <a:solidFill>
                  <a:srgbClr val="7E747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750" b="1" i="0">
                <a:solidFill>
                  <a:srgbClr val="7E7471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7E7471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60052322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E0D1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6009470-0E94-4385-805D-47AB30887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975" b="1" i="0">
                <a:solidFill>
                  <a:srgbClr val="D567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75" b="1" i="0">
                <a:solidFill>
                  <a:srgbClr val="D5673B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D5673B"/>
                </a:solidFill>
                <a:latin typeface="Arial"/>
                <a:ea typeface="Arial"/>
                <a:cs typeface="Arial"/>
              </a:rPr>
              <a:t>FORMAÇÃO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73B430-D0D8-4963-905F-FDC462C08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971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3150" b="1" i="0">
                <a:solidFill>
                  <a:srgbClr val="F4ECE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 i="0">
                <a:solidFill>
                  <a:srgbClr val="F4ECE3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F4ECE3"/>
                </a:solidFill>
                <a:latin typeface="Arial"/>
                <a:ea typeface="Arial"/>
                <a:cs typeface="Arial"/>
              </a:rPr>
              <a:t>Quatro responsabilidades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1A5C5F-71C2-49E7-A937-5800D9336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666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3300" b="1" i="0">
                <a:solidFill>
                  <a:srgbClr val="D567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 i="0">
                <a:solidFill>
                  <a:srgbClr val="D5673B"/>
                </a:solidFill>
                <a:latin typeface="Arial"/>
                <a:ea typeface="Arial"/>
                <a:cs typeface="Arial"/>
              </a:defRPr>
            </a:pPr>
            <a:r>
              <a:rPr sz="3300" b="1" i="0">
                <a:solidFill>
                  <a:srgbClr val="D5673B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8D8612-C792-4943-ACE0-F4E17B232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182880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2424"/>
          </a:bodyPr>
          <a:lstStyle xmlns:a="http://schemas.openxmlformats.org/drawingml/2006/main">
            <a:defPPr>
              <a:defRPr sz="1650" b="1" i="0">
                <a:solidFill>
                  <a:srgbClr val="F4ECE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1" i="0">
                <a:solidFill>
                  <a:srgbClr val="F4ECE3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F4ECE3"/>
                </a:solidFill>
                <a:latin typeface="Arial"/>
                <a:ea typeface="Arial"/>
                <a:cs typeface="Arial"/>
              </a:rPr>
              <a:t>CARTÓGRAFO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F33516-67F6-4C68-935F-8A3B0C1ED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266950"/>
            <a:ext cx="4000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275" b="0" i="0">
                <a:solidFill>
                  <a:srgbClr val="B5AAA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 i="0">
                <a:solidFill>
                  <a:srgbClr val="B5AAA4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B5AAA4"/>
                </a:solidFill>
                <a:latin typeface="Arial"/>
                <a:ea typeface="Arial"/>
                <a:cs typeface="Arial"/>
              </a:rPr>
              <a:t>Organiza dados, desenhos e tabelas.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ECE73C-348B-47B6-A778-FC543DF34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962275"/>
            <a:ext cx="3714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036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7FFCCA-3489-46A2-993C-9F0D95CEC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809750"/>
            <a:ext cx="666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3300" b="1" i="0">
                <a:solidFill>
                  <a:srgbClr val="D567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 i="0">
                <a:solidFill>
                  <a:srgbClr val="D5673B"/>
                </a:solidFill>
                <a:latin typeface="Arial"/>
                <a:ea typeface="Arial"/>
                <a:cs typeface="Arial"/>
              </a:defRPr>
            </a:pPr>
            <a:r>
              <a:rPr sz="3300" b="1" i="0">
                <a:solidFill>
                  <a:srgbClr val="D5673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52407B-E557-4E8E-A7A0-D18CA27DD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82880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2424"/>
          </a:bodyPr>
          <a:lstStyle xmlns:a="http://schemas.openxmlformats.org/drawingml/2006/main">
            <a:defPPr>
              <a:defRPr sz="1650" b="1" i="0">
                <a:solidFill>
                  <a:srgbClr val="F4ECE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1" i="0">
                <a:solidFill>
                  <a:srgbClr val="F4ECE3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F4ECE3"/>
                </a:solidFill>
                <a:latin typeface="Arial"/>
                <a:ea typeface="Arial"/>
                <a:cs typeface="Arial"/>
              </a:rPr>
              <a:t>DECIFRADOR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BADF49-C0DE-4A83-9587-B993E926C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266950"/>
            <a:ext cx="4000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275" b="0" i="0">
                <a:solidFill>
                  <a:srgbClr val="B5AAA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 i="0">
                <a:solidFill>
                  <a:srgbClr val="B5AAA4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B5AAA4"/>
                </a:solidFill>
                <a:latin typeface="Arial"/>
                <a:ea typeface="Arial"/>
                <a:cs typeface="Arial"/>
              </a:rPr>
              <a:t>Conduz cálculos e transformações.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C3FA1B-F2ED-4BED-B514-CFF3882CA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962275"/>
            <a:ext cx="3714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036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E55FB9F-EB0F-4DEB-AADF-D94A276AF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0"/>
            <a:ext cx="666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3300" b="1" i="0">
                <a:solidFill>
                  <a:srgbClr val="D567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 i="0">
                <a:solidFill>
                  <a:srgbClr val="D5673B"/>
                </a:solidFill>
                <a:latin typeface="Arial"/>
                <a:ea typeface="Arial"/>
                <a:cs typeface="Arial"/>
              </a:defRPr>
            </a:pPr>
            <a:r>
              <a:rPr sz="3300" b="1" i="0">
                <a:solidFill>
                  <a:srgbClr val="D5673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E451FFE-7435-4FBE-87A7-57D5CC4F7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63855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2424"/>
          </a:bodyPr>
          <a:lstStyle xmlns:a="http://schemas.openxmlformats.org/drawingml/2006/main">
            <a:defPPr>
              <a:defRPr sz="1650" b="1" i="0">
                <a:solidFill>
                  <a:srgbClr val="F4ECE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1" i="0">
                <a:solidFill>
                  <a:srgbClr val="F4ECE3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F4ECE3"/>
                </a:solidFill>
                <a:latin typeface="Arial"/>
                <a:ea typeface="Arial"/>
                <a:cs typeface="Arial"/>
              </a:rPr>
              <a:t>CÉTICO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8A155CA-87EE-436B-B9A0-243B90062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076700"/>
            <a:ext cx="4000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275" b="0" i="0">
                <a:solidFill>
                  <a:srgbClr val="B5AAA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 i="0">
                <a:solidFill>
                  <a:srgbClr val="B5AAA4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B5AAA4"/>
                </a:solidFill>
                <a:latin typeface="Arial"/>
                <a:ea typeface="Arial"/>
                <a:cs typeface="Arial"/>
              </a:rPr>
              <a:t>Procura contraexemplos e falhas.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FE0AD62-1729-4FC0-8FB9-4EAA23FEB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772025"/>
            <a:ext cx="3714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036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699811C-4A63-41A1-BAE9-F5C29C5DD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619500"/>
            <a:ext cx="666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3300" b="1" i="0">
                <a:solidFill>
                  <a:srgbClr val="D567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 i="0">
                <a:solidFill>
                  <a:srgbClr val="D5673B"/>
                </a:solidFill>
                <a:latin typeface="Arial"/>
                <a:ea typeface="Arial"/>
                <a:cs typeface="Arial"/>
              </a:defRPr>
            </a:pPr>
            <a:r>
              <a:rPr sz="3300" b="1" i="0">
                <a:solidFill>
                  <a:srgbClr val="D5673B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A3EA823-E0FC-4968-A761-57BD4ECFA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63855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2424"/>
          </a:bodyPr>
          <a:lstStyle xmlns:a="http://schemas.openxmlformats.org/drawingml/2006/main">
            <a:defPPr>
              <a:defRPr sz="1650" b="1" i="0">
                <a:solidFill>
                  <a:srgbClr val="F4ECE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1" i="0">
                <a:solidFill>
                  <a:srgbClr val="F4ECE3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F4ECE3"/>
                </a:solidFill>
                <a:latin typeface="Arial"/>
                <a:ea typeface="Arial"/>
                <a:cs typeface="Arial"/>
              </a:rPr>
              <a:t>GUARDIÃO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5A3C2B9-1EAB-453F-8759-949FE5F31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076700"/>
            <a:ext cx="4000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275" b="0" i="0">
                <a:solidFill>
                  <a:srgbClr val="B5AAA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 i="0">
                <a:solidFill>
                  <a:srgbClr val="B5AAA4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B5AAA4"/>
                </a:solidFill>
                <a:latin typeface="Arial"/>
                <a:ea typeface="Arial"/>
                <a:cs typeface="Arial"/>
              </a:rPr>
              <a:t>Registra evidências e submete respostas.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9EDA84A-A85A-43A7-8297-62FF982F5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772025"/>
            <a:ext cx="3714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036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50D7492-3188-4B60-B711-E91BAA646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0"/>
            <a:ext cx="666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350" b="0" i="0">
                <a:solidFill>
                  <a:srgbClr val="D4A86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 i="0">
                <a:solidFill>
                  <a:srgbClr val="D4A868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D4A868"/>
                </a:solidFill>
                <a:latin typeface="Arial"/>
                <a:ea typeface="Arial"/>
                <a:cs typeface="Arial"/>
              </a:rPr>
              <a:t>A equipe pode trocar responsabilidades entre os selos.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0B598FA-B757-4686-A508-F71975EE0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428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>
            <a:defPPr>
              <a:defRPr sz="750" b="1" i="0">
                <a:solidFill>
                  <a:srgbClr val="7E747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750" b="1" i="0">
                <a:solidFill>
                  <a:srgbClr val="7E7471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7E7471"/>
                </a:solidFill>
                <a:latin typeface="Arial"/>
                <a:ea typeface="Arial"/>
                <a:cs typeface="Arial"/>
              </a:rPr>
              <a:t>O ÚLTIMO AXIOMA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92ADEE8-6013-40FB-AB15-596F3C276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>
            <a:defPPr>
              <a:defRPr sz="750" b="1" i="0">
                <a:solidFill>
                  <a:srgbClr val="7E747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750" b="1" i="0">
                <a:solidFill>
                  <a:srgbClr val="7E7471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7E7471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84579836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E0D1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FFF20DA-F62F-4E66-B68B-3FC2706B4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975" b="1" i="0">
                <a:solidFill>
                  <a:srgbClr val="D567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75" b="1" i="0">
                <a:solidFill>
                  <a:srgbClr val="D5673B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D5673B"/>
                </a:solidFill>
                <a:latin typeface="Arial"/>
                <a:ea typeface="Arial"/>
                <a:cs typeface="Arial"/>
              </a:rPr>
              <a:t>PROTOCOLO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99C86B-366B-48DC-90E6-396817E2C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971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3150" b="1" i="0">
                <a:solidFill>
                  <a:srgbClr val="F4ECE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 i="0">
                <a:solidFill>
                  <a:srgbClr val="F4ECE3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F4ECE3"/>
                </a:solidFill>
                <a:latin typeface="Arial"/>
                <a:ea typeface="Arial"/>
                <a:cs typeface="Arial"/>
              </a:rPr>
              <a:t>Toda resposta precisa de quatro evidências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4EF377-45B7-4309-91B5-191423E1B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71650"/>
            <a:ext cx="552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2175" b="1" i="0">
                <a:solidFill>
                  <a:srgbClr val="D567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1" i="0">
                <a:solidFill>
                  <a:srgbClr val="D5673B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D5673B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F96056-F6BF-41CC-A604-82B31BFEF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7716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000"/>
          </a:bodyPr>
          <a:lstStyle xmlns:a="http://schemas.openxmlformats.org/drawingml/2006/main">
            <a:defPPr>
              <a:defRPr sz="1500" b="1" i="0">
                <a:solidFill>
                  <a:srgbClr val="F4ECE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1" i="0">
                <a:solidFill>
                  <a:srgbClr val="F4ECE3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F4ECE3"/>
                </a:solidFill>
                <a:latin typeface="Arial"/>
                <a:ea typeface="Arial"/>
                <a:cs typeface="Arial"/>
              </a:rPr>
              <a:t>REPRESENTAÇÃO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1BF07A-18AC-4A20-97D3-E7165FDFD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771650"/>
            <a:ext cx="685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350" b="0" i="0">
                <a:solidFill>
                  <a:srgbClr val="B5AAA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 i="0">
                <a:solidFill>
                  <a:srgbClr val="B5AAA4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B5AAA4"/>
                </a:solidFill>
                <a:latin typeface="Arial"/>
                <a:ea typeface="Arial"/>
                <a:cs typeface="Arial"/>
              </a:rPr>
              <a:t>Conjunto, grafo, tabela, expressão, código ou circuito.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B7E705-AC6D-4B3F-8269-D0ADA9E0E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362200"/>
            <a:ext cx="9334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036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DBD98D-48B6-4AB8-BCC9-1544D1617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52725"/>
            <a:ext cx="552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2175" b="1" i="0">
                <a:solidFill>
                  <a:srgbClr val="D567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1" i="0">
                <a:solidFill>
                  <a:srgbClr val="D5673B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D5673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C80A0B-B0BB-4216-AD9E-8A7924A46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752725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000"/>
          </a:bodyPr>
          <a:lstStyle xmlns:a="http://schemas.openxmlformats.org/drawingml/2006/main">
            <a:defPPr>
              <a:defRPr sz="1500" b="1" i="0">
                <a:solidFill>
                  <a:srgbClr val="F4ECE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1" i="0">
                <a:solidFill>
                  <a:srgbClr val="F4ECE3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F4ECE3"/>
                </a:solidFill>
                <a:latin typeface="Arial"/>
                <a:ea typeface="Arial"/>
                <a:cs typeface="Arial"/>
              </a:rPr>
              <a:t>RESULTADO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CC418E-C846-413F-A028-7847AD38A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752725"/>
            <a:ext cx="685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350" b="0" i="0">
                <a:solidFill>
                  <a:srgbClr val="B5AAA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 i="0">
                <a:solidFill>
                  <a:srgbClr val="B5AAA4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B5AAA4"/>
                </a:solidFill>
                <a:latin typeface="Arial"/>
                <a:ea typeface="Arial"/>
                <a:cs typeface="Arial"/>
              </a:rPr>
              <a:t>A resposta objetiva que a equipe quer validar.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02B2182-00F7-4130-B2E6-A141C5D26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343275"/>
            <a:ext cx="9334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036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3830D97-6003-4DA0-BD97-749217FDC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33800"/>
            <a:ext cx="552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2175" b="1" i="0">
                <a:solidFill>
                  <a:srgbClr val="D567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1" i="0">
                <a:solidFill>
                  <a:srgbClr val="D5673B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D5673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A85935-266B-4883-B1B1-4F8EECE46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7338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000"/>
          </a:bodyPr>
          <a:lstStyle xmlns:a="http://schemas.openxmlformats.org/drawingml/2006/main">
            <a:defPPr>
              <a:defRPr sz="1500" b="1" i="0">
                <a:solidFill>
                  <a:srgbClr val="F4ECE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1" i="0">
                <a:solidFill>
                  <a:srgbClr val="F4ECE3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F4ECE3"/>
                </a:solidFill>
                <a:latin typeface="Arial"/>
                <a:ea typeface="Arial"/>
                <a:cs typeface="Arial"/>
              </a:rPr>
              <a:t>TESTE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C14D14B-2ECB-4DE3-9294-0C057E2CD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733800"/>
            <a:ext cx="685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350" b="0" i="0">
                <a:solidFill>
                  <a:srgbClr val="B5AAA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 i="0">
                <a:solidFill>
                  <a:srgbClr val="B5AAA4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B5AAA4"/>
                </a:solidFill>
                <a:latin typeface="Arial"/>
                <a:ea typeface="Arial"/>
                <a:cs typeface="Arial"/>
              </a:rPr>
              <a:t>Um caso, linha ou verificação que sustenta o resultado.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AA43826-F89E-40DA-8435-322BC7DA7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324350"/>
            <a:ext cx="9334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036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DCB4EB6-F888-4EB2-98A9-783091DD9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14875"/>
            <a:ext cx="552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2175" b="1" i="0">
                <a:solidFill>
                  <a:srgbClr val="D567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1" i="0">
                <a:solidFill>
                  <a:srgbClr val="D5673B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D5673B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23B8A34-0B30-4244-8843-263490E94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714875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000"/>
          </a:bodyPr>
          <a:lstStyle xmlns:a="http://schemas.openxmlformats.org/drawingml/2006/main">
            <a:defPPr>
              <a:defRPr sz="1500" b="1" i="0">
                <a:solidFill>
                  <a:srgbClr val="F4ECE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1" i="0">
                <a:solidFill>
                  <a:srgbClr val="F4ECE3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F4ECE3"/>
                </a:solidFill>
                <a:latin typeface="Arial"/>
                <a:ea typeface="Arial"/>
                <a:cs typeface="Arial"/>
              </a:rPr>
              <a:t>EXPLICAÇÃO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119ECD1-A8E7-486A-BFFE-9D92A32E1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714875"/>
            <a:ext cx="685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350" b="0" i="0">
                <a:solidFill>
                  <a:srgbClr val="B5AAA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 i="0">
                <a:solidFill>
                  <a:srgbClr val="B5AAA4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B5AAA4"/>
                </a:solidFill>
                <a:latin typeface="Arial"/>
                <a:ea typeface="Arial"/>
                <a:cs typeface="Arial"/>
              </a:rPr>
              <a:t>A regra matemática que conecta os registros anteriores.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9CFE159-0D4B-4CE9-BA63-1FE0C6BB9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305425"/>
            <a:ext cx="9334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036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96DF5F5-FDCB-4AA0-B1C9-DAF6A057C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428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>
            <a:defPPr>
              <a:defRPr sz="750" b="1" i="0">
                <a:solidFill>
                  <a:srgbClr val="7E747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750" b="1" i="0">
                <a:solidFill>
                  <a:srgbClr val="7E7471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7E7471"/>
                </a:solidFill>
                <a:latin typeface="Arial"/>
                <a:ea typeface="Arial"/>
                <a:cs typeface="Arial"/>
              </a:rPr>
              <a:t>O ÚLTIMO AXIOMA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D260A72-532E-48CD-9AE2-020A2600D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>
            <a:defPPr>
              <a:defRPr sz="750" b="1" i="0">
                <a:solidFill>
                  <a:srgbClr val="7E747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750" b="1" i="0">
                <a:solidFill>
                  <a:srgbClr val="7E7471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7E7471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49179310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E0D1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2E11572-52FF-42E8-BA36-FEE92175E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975" b="1" i="0">
                <a:solidFill>
                  <a:srgbClr val="D567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75" b="1" i="0">
                <a:solidFill>
                  <a:srgbClr val="D5673B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D5673B"/>
                </a:solidFill>
                <a:latin typeface="Arial"/>
                <a:ea typeface="Arial"/>
                <a:cs typeface="Arial"/>
              </a:rPr>
              <a:t>PONTUAÇÃO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0691DF-7EAB-46D5-87B2-30E48E89E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971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3150" b="1" i="0">
                <a:solidFill>
                  <a:srgbClr val="F4ECE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 i="0">
                <a:solidFill>
                  <a:srgbClr val="F4ECE3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F4ECE3"/>
                </a:solidFill>
                <a:latin typeface="Arial"/>
                <a:ea typeface="Arial"/>
                <a:cs typeface="Arial"/>
              </a:rPr>
              <a:t>O custo de cada decisão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20DCFA-0FA7-45C6-A821-555E51ED5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1714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9123"/>
          </a:bodyPr>
          <a:lstStyle xmlns:a="http://schemas.openxmlformats.org/drawingml/2006/main">
            <a:defPPr>
              <a:defRPr sz="5700" b="1" i="0">
                <a:solidFill>
                  <a:srgbClr val="D567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5700" b="1" i="0">
                <a:solidFill>
                  <a:srgbClr val="D5673B"/>
                </a:solidFill>
                <a:latin typeface="Arial"/>
                <a:ea typeface="Arial"/>
                <a:cs typeface="Arial"/>
              </a:defRPr>
            </a:pPr>
            <a:r>
              <a:rPr sz="5700" b="1" i="0">
                <a:solidFill>
                  <a:srgbClr val="D5673B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87F84C-B162-46BC-90B5-F0A924B0D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432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4444"/>
          </a:bodyPr>
          <a:lstStyle xmlns:a="http://schemas.openxmlformats.org/drawingml/2006/main">
            <a:defPPr>
              <a:defRPr sz="1350" b="0" i="0">
                <a:solidFill>
                  <a:srgbClr val="B5AAA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 i="0">
                <a:solidFill>
                  <a:srgbClr val="B5AAA4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B5AAA4"/>
                </a:solidFill>
                <a:latin typeface="Arial"/>
                <a:ea typeface="Arial"/>
                <a:cs typeface="Arial"/>
              </a:rPr>
              <a:t>por selo validado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30BEED-3CB5-4559-A7DE-E5DC02239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790700"/>
            <a:ext cx="1905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9123"/>
          </a:bodyPr>
          <a:lstStyle xmlns:a="http://schemas.openxmlformats.org/drawingml/2006/main">
            <a:defPPr>
              <a:defRPr sz="5700" b="1" i="0">
                <a:solidFill>
                  <a:srgbClr val="D4A86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5700" b="1" i="0">
                <a:solidFill>
                  <a:srgbClr val="D4A868"/>
                </a:solidFill>
                <a:latin typeface="Arial"/>
                <a:ea typeface="Arial"/>
                <a:cs typeface="Arial"/>
              </a:defRPr>
            </a:pPr>
            <a:r>
              <a:rPr sz="5700" b="1" i="0">
                <a:solidFill>
                  <a:srgbClr val="D4A868"/>
                </a:solidFill>
                <a:latin typeface="Arial"/>
                <a:ea typeface="Arial"/>
                <a:cs typeface="Arial"/>
              </a:rPr>
              <a:t>200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156F0B-820C-43B5-B42C-E3A4F08D7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7432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4444"/>
          </a:bodyPr>
          <a:lstStyle xmlns:a="http://schemas.openxmlformats.org/drawingml/2006/main">
            <a:defPPr>
              <a:defRPr sz="1350" b="0" i="0">
                <a:solidFill>
                  <a:srgbClr val="B5AAA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 i="0">
                <a:solidFill>
                  <a:srgbClr val="B5AAA4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B5AAA4"/>
                </a:solidFill>
                <a:latin typeface="Arial"/>
                <a:ea typeface="Arial"/>
                <a:cs typeface="Arial"/>
              </a:rPr>
              <a:t>pela chave final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23BD60-3158-456F-AE68-BA656D76A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1790700"/>
            <a:ext cx="1143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9123"/>
          </a:bodyPr>
          <a:lstStyle xmlns:a="http://schemas.openxmlformats.org/drawingml/2006/main">
            <a:defPPr>
              <a:defRPr sz="5700" b="1" i="0">
                <a:solidFill>
                  <a:srgbClr val="79BFC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5700" b="1" i="0">
                <a:solidFill>
                  <a:srgbClr val="79BFC1"/>
                </a:solidFill>
                <a:latin typeface="Arial"/>
                <a:ea typeface="Arial"/>
                <a:cs typeface="Arial"/>
              </a:defRPr>
            </a:pPr>
            <a:r>
              <a:rPr sz="5700" b="1" i="0">
                <a:solidFill>
                  <a:srgbClr val="79BFC1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C20D15-FFD3-4D95-876D-DCFDCEDF4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74320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4444"/>
          </a:bodyPr>
          <a:lstStyle xmlns:a="http://schemas.openxmlformats.org/drawingml/2006/main">
            <a:defPPr>
              <a:defRPr sz="1350" b="0" i="0">
                <a:solidFill>
                  <a:srgbClr val="B5AAA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 i="0">
                <a:solidFill>
                  <a:srgbClr val="B5AAA4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B5AAA4"/>
                </a:solidFill>
                <a:latin typeface="Arial"/>
                <a:ea typeface="Arial"/>
                <a:cs typeface="Arial"/>
              </a:rPr>
              <a:t>fragmentos de pista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3ACE8B-EBBC-4A8B-BC49-4AD84C0C2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90925"/>
            <a:ext cx="10096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036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96D357-3B81-48FF-BE8C-0350C8345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62400"/>
            <a:ext cx="1009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725" b="1" i="0">
                <a:solidFill>
                  <a:srgbClr val="F4ECE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1" i="0">
                <a:solidFill>
                  <a:srgbClr val="F4ECE3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F4ECE3"/>
                </a:solidFill>
                <a:latin typeface="Arial"/>
                <a:ea typeface="Arial"/>
                <a:cs typeface="Arial"/>
              </a:rPr>
              <a:t>Tentativas incorretas não retiram pontos. Elas ficam registradas e recebem feedback sem revelar a resposta.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74FEA1-5737-400E-9A7F-C34B18CB0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95875"/>
            <a:ext cx="876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350" b="0" i="0">
                <a:solidFill>
                  <a:srgbClr val="D4A86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 i="0">
                <a:solidFill>
                  <a:srgbClr val="D4A868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D4A868"/>
                </a:solidFill>
                <a:latin typeface="Arial"/>
                <a:ea typeface="Arial"/>
                <a:cs typeface="Arial"/>
              </a:rPr>
              <a:t>O placar ordena pontuação, selo atual e horário de conclusão.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72E3BE2-C488-4967-856D-0C923B2D8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428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>
            <a:defPPr>
              <a:defRPr sz="750" b="1" i="0">
                <a:solidFill>
                  <a:srgbClr val="7E747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750" b="1" i="0">
                <a:solidFill>
                  <a:srgbClr val="7E7471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7E7471"/>
                </a:solidFill>
                <a:latin typeface="Arial"/>
                <a:ea typeface="Arial"/>
                <a:cs typeface="Arial"/>
              </a:rPr>
              <a:t>O ÚLTIMO AXIOMA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197FD60-73B6-4697-AE73-FE20150AF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>
            <a:defPPr>
              <a:defRPr sz="750" b="1" i="0">
                <a:solidFill>
                  <a:srgbClr val="7E747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750" b="1" i="0">
                <a:solidFill>
                  <a:srgbClr val="7E7471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7E7471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28248523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E0D1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54E778A-CA3D-4324-8029-053FBFC81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975" b="1" i="0">
                <a:solidFill>
                  <a:srgbClr val="D567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75" b="1" i="0">
                <a:solidFill>
                  <a:srgbClr val="D5673B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D5673B"/>
                </a:solidFill>
                <a:latin typeface="Arial"/>
                <a:ea typeface="Arial"/>
                <a:cs typeface="Arial"/>
              </a:rPr>
              <a:t>MAPA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A25BBB-E984-4663-9811-3C03BA430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971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3150" b="1" i="0">
                <a:solidFill>
                  <a:srgbClr val="F4ECE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 i="0">
                <a:solidFill>
                  <a:srgbClr val="F4ECE3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F4ECE3"/>
                </a:solidFill>
                <a:latin typeface="Arial"/>
                <a:ea typeface="Arial"/>
                <a:cs typeface="Arial"/>
              </a:rPr>
              <a:t>As sete câmaras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6AF8EA-B1EA-4716-A1DD-3C04F83A6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71750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181D"/>
          </a:solidFill>
          <a:ln xmlns:a="http://schemas.openxmlformats.org/drawingml/2006/main" w="19050">
            <a:solidFill>
              <a:srgbClr val="40363D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875" b="1">
                <a:solidFill>
                  <a:srgbClr val="B5AAA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B5AAA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B5AAA4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B619F3-DFCD-4C84-8981-85B03790E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14700"/>
            <a:ext cx="1181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975" b="1" i="0">
                <a:solidFill>
                  <a:srgbClr val="B5AAA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75" b="1" i="0">
                <a:solidFill>
                  <a:srgbClr val="B5AAA4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B5AAA4"/>
                </a:solidFill>
                <a:latin typeface="Arial"/>
                <a:ea typeface="Arial"/>
                <a:cs typeface="Arial"/>
              </a:rPr>
              <a:t>Arquivo Vazio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B04A9B-B35F-4EB2-AFAC-F7F466734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2571750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181D"/>
          </a:solidFill>
          <a:ln xmlns:a="http://schemas.openxmlformats.org/drawingml/2006/main" w="19050">
            <a:solidFill>
              <a:srgbClr val="40363D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875" b="1">
                <a:solidFill>
                  <a:srgbClr val="B5AAA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B5AAA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B5AAA4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0F267C-1627-491C-907F-4FA26D87B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314700"/>
            <a:ext cx="1181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4615"/>
          </a:bodyPr>
          <a:lstStyle xmlns:a="http://schemas.openxmlformats.org/drawingml/2006/main">
            <a:defPPr>
              <a:defRPr sz="975" b="1" i="0">
                <a:solidFill>
                  <a:srgbClr val="B5AAA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75" b="1" i="0">
                <a:solidFill>
                  <a:srgbClr val="B5AAA4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B5AAA4"/>
                </a:solidFill>
                <a:latin typeface="Arial"/>
                <a:ea typeface="Arial"/>
                <a:cs typeface="Arial"/>
              </a:rPr>
              <a:t>Corredor dos Vínculos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881026-D316-44AD-AD35-B997CA118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571750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181D"/>
          </a:solidFill>
          <a:ln xmlns:a="http://schemas.openxmlformats.org/drawingml/2006/main" w="19050">
            <a:solidFill>
              <a:srgbClr val="40363D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875" b="1">
                <a:solidFill>
                  <a:srgbClr val="B5AAA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B5AAA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B5AAA4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3C6C89-4923-4CD9-9AAF-DF95EFE81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314700"/>
            <a:ext cx="1181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4615"/>
          </a:bodyPr>
          <a:lstStyle xmlns:a="http://schemas.openxmlformats.org/drawingml/2006/main">
            <a:defPPr>
              <a:defRPr sz="975" b="1" i="0">
                <a:solidFill>
                  <a:srgbClr val="B5AAA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75" b="1" i="0">
                <a:solidFill>
                  <a:srgbClr val="B5AAA4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B5AAA4"/>
                </a:solidFill>
                <a:latin typeface="Arial"/>
                <a:ea typeface="Arial"/>
                <a:cs typeface="Arial"/>
              </a:rPr>
              <a:t>Galeria dos Espelhos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A63C3B-4909-4F0F-9F59-F605E098E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571750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181D"/>
          </a:solidFill>
          <a:ln xmlns:a="http://schemas.openxmlformats.org/drawingml/2006/main" w="19050">
            <a:solidFill>
              <a:srgbClr val="40363D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875" b="1">
                <a:solidFill>
                  <a:srgbClr val="B5AAA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B5AAA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B5AAA4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3DBCCE-66DA-4F44-866F-1BE5B0862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3314700"/>
            <a:ext cx="1181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5681"/>
          </a:bodyPr>
          <a:lstStyle xmlns:a="http://schemas.openxmlformats.org/drawingml/2006/main">
            <a:defPPr>
              <a:defRPr sz="975" b="1" i="0">
                <a:solidFill>
                  <a:srgbClr val="B5AAA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75" b="1" i="0">
                <a:solidFill>
                  <a:srgbClr val="B5AAA4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B5AAA4"/>
                </a:solidFill>
                <a:latin typeface="Arial"/>
                <a:ea typeface="Arial"/>
                <a:cs typeface="Arial"/>
              </a:rPr>
              <a:t>Capela das Vozes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B4B459-BA91-4413-9FDA-8DABA290D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571750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181D"/>
          </a:solidFill>
          <a:ln xmlns:a="http://schemas.openxmlformats.org/drawingml/2006/main" w="19050">
            <a:solidFill>
              <a:srgbClr val="40363D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875" b="1">
                <a:solidFill>
                  <a:srgbClr val="B5AAA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B5AAA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B5AAA4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DF8B4E9-15E5-46ED-A38A-57883FE2A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314700"/>
            <a:ext cx="1181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975" b="1" i="0">
                <a:solidFill>
                  <a:srgbClr val="B5AAA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75" b="1" i="0">
                <a:solidFill>
                  <a:srgbClr val="B5AAA4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B5AAA4"/>
                </a:solidFill>
                <a:latin typeface="Arial"/>
                <a:ea typeface="Arial"/>
                <a:cs typeface="Arial"/>
              </a:rPr>
              <a:t>Autômato Cego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6E0E638-53C1-401C-AB98-2189335AC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571750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181D"/>
          </a:solidFill>
          <a:ln xmlns:a="http://schemas.openxmlformats.org/drawingml/2006/main" w="19050">
            <a:solidFill>
              <a:srgbClr val="40363D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875" b="1">
                <a:solidFill>
                  <a:srgbClr val="B5AAA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B5AAA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B5AAA4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5DD9C22-2A04-4358-96FE-8599D21BF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314700"/>
            <a:ext cx="1181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4615"/>
          </a:bodyPr>
          <a:lstStyle xmlns:a="http://schemas.openxmlformats.org/drawingml/2006/main">
            <a:defPPr>
              <a:defRPr sz="975" b="1" i="0">
                <a:solidFill>
                  <a:srgbClr val="B5AAA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75" b="1" i="0">
                <a:solidFill>
                  <a:srgbClr val="B5AAA4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B5AAA4"/>
                </a:solidFill>
                <a:latin typeface="Arial"/>
                <a:ea typeface="Arial"/>
                <a:cs typeface="Arial"/>
              </a:rPr>
              <a:t>Sala das Lâmpadas Mortas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18DABCA-C7C8-4298-A422-D79938B58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2571750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181D"/>
          </a:solidFill>
          <a:ln xmlns:a="http://schemas.openxmlformats.org/drawingml/2006/main" w="19050">
            <a:solidFill>
              <a:srgbClr val="40363D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875" b="1">
                <a:solidFill>
                  <a:srgbClr val="B5AAA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B5AAA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B5AAA4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7891A65-36D7-44A6-B098-99891D7B3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3314700"/>
            <a:ext cx="1181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4615"/>
          </a:bodyPr>
          <a:lstStyle xmlns:a="http://schemas.openxmlformats.org/drawingml/2006/main">
            <a:defPPr>
              <a:defRPr sz="975" b="1" i="0">
                <a:solidFill>
                  <a:srgbClr val="B5AAA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75" b="1" i="0">
                <a:solidFill>
                  <a:srgbClr val="B5AAA4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B5AAA4"/>
                </a:solidFill>
                <a:latin typeface="Arial"/>
                <a:ea typeface="Arial"/>
                <a:cs typeface="Arial"/>
              </a:rPr>
              <a:t>Labirinto das Possibilidades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0068267-1F8A-46E1-ACED-B0390591B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76550"/>
            <a:ext cx="93916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036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54B5DD6-C536-4169-8F42-564867534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57750"/>
            <a:ext cx="9048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800" b="1" i="0">
                <a:solidFill>
                  <a:srgbClr val="F4ECE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1" i="0">
                <a:solidFill>
                  <a:srgbClr val="F4ECE3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F4ECE3"/>
                </a:solidFill>
                <a:latin typeface="Arial"/>
                <a:ea typeface="Arial"/>
                <a:cs typeface="Arial"/>
              </a:rPr>
              <a:t>As câmaras abrem em sequência. Nenhum selo pode ser ignorado.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CCDB14D-EAC3-4AB0-922E-8CFCE23E4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91150"/>
            <a:ext cx="904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275" b="0" i="0">
                <a:solidFill>
                  <a:srgbClr val="B5AAA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 i="0">
                <a:solidFill>
                  <a:srgbClr val="B5AAA4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B5AAA4"/>
                </a:solidFill>
                <a:latin typeface="Arial"/>
                <a:ea typeface="Arial"/>
                <a:cs typeface="Arial"/>
              </a:rPr>
              <a:t>A palavra final só aparece quando todas as evidências forem aceitas.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8F5D685-F49C-43D3-9EE3-584F18819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428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>
            <a:defPPr>
              <a:defRPr sz="750" b="1" i="0">
                <a:solidFill>
                  <a:srgbClr val="7E747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750" b="1" i="0">
                <a:solidFill>
                  <a:srgbClr val="7E7471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7E7471"/>
                </a:solidFill>
                <a:latin typeface="Arial"/>
                <a:ea typeface="Arial"/>
                <a:cs typeface="Arial"/>
              </a:rPr>
              <a:t>O ÚLTIMO AXIOMA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BA4D52D-634B-4801-A2B2-CA45664CB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>
            <a:defPPr>
              <a:defRPr sz="750" b="1" i="0">
                <a:solidFill>
                  <a:srgbClr val="7E747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750" b="1" i="0">
                <a:solidFill>
                  <a:srgbClr val="7E7471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7E7471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210395489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E0D1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31EB40E-6BC6-43F6-B12A-483FE3DC1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975" b="1" i="0">
                <a:solidFill>
                  <a:srgbClr val="D567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75" b="1" i="0">
                <a:solidFill>
                  <a:srgbClr val="D5673B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D5673B"/>
                </a:solidFill>
                <a:latin typeface="Arial"/>
                <a:ea typeface="Arial"/>
                <a:cs typeface="Arial"/>
              </a:rPr>
              <a:t>INÍCIO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CFC289-CDF5-491F-8BD2-19A71456C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971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3150" b="1" i="0">
                <a:solidFill>
                  <a:srgbClr val="F4ECE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 i="0">
                <a:solidFill>
                  <a:srgbClr val="F4ECE3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F4ECE3"/>
                </a:solidFill>
                <a:latin typeface="Arial"/>
                <a:ea typeface="Arial"/>
                <a:cs typeface="Arial"/>
              </a:rPr>
              <a:t>Acesso à expedição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C1F28E-F435-4059-8B22-A31BA0579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09750"/>
            <a:ext cx="666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6795"/>
          </a:bodyPr>
          <a:lstStyle xmlns:a="http://schemas.openxmlformats.org/drawingml/2006/main">
            <a:defPPr>
              <a:defRPr sz="3900" b="1" i="0">
                <a:solidFill>
                  <a:srgbClr val="D567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900" b="1" i="0">
                <a:solidFill>
                  <a:srgbClr val="D5673B"/>
                </a:solidFill>
                <a:latin typeface="Arial"/>
                <a:ea typeface="Arial"/>
                <a:cs typeface="Arial"/>
              </a:defRPr>
            </a:pPr>
            <a:r>
              <a:rPr sz="3900" b="1" i="0">
                <a:solidFill>
                  <a:srgbClr val="D5673B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A89434-734E-4558-BED7-CC7909871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924050"/>
            <a:ext cx="4095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8851"/>
          </a:bodyPr>
          <a:lstStyle xmlns:a="http://schemas.openxmlformats.org/drawingml/2006/main">
            <a:defPPr>
              <a:defRPr sz="2175" b="1" i="0">
                <a:solidFill>
                  <a:srgbClr val="F4ECE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1" i="0">
                <a:solidFill>
                  <a:srgbClr val="F4ECE3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F4ECE3"/>
                </a:solidFill>
                <a:latin typeface="Arial"/>
                <a:ea typeface="Arial"/>
                <a:cs typeface="Arial"/>
              </a:rPr>
              <a:t>Entre com sua RA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ADBA23-52AD-43E4-90F0-47554BA44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24175"/>
            <a:ext cx="666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6795"/>
          </a:bodyPr>
          <a:lstStyle xmlns:a="http://schemas.openxmlformats.org/drawingml/2006/main">
            <a:defPPr>
              <a:defRPr sz="3900" b="1" i="0">
                <a:solidFill>
                  <a:srgbClr val="D567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900" b="1" i="0">
                <a:solidFill>
                  <a:srgbClr val="D5673B"/>
                </a:solidFill>
                <a:latin typeface="Arial"/>
                <a:ea typeface="Arial"/>
                <a:cs typeface="Arial"/>
              </a:defRPr>
            </a:pPr>
            <a:r>
              <a:rPr sz="3900" b="1" i="0">
                <a:solidFill>
                  <a:srgbClr val="D5673B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6B8607-389F-4781-9C10-0385F4E14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038475"/>
            <a:ext cx="7048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8851"/>
          </a:bodyPr>
          <a:lstStyle xmlns:a="http://schemas.openxmlformats.org/drawingml/2006/main">
            <a:defPPr>
              <a:defRPr sz="2175" b="1" i="0">
                <a:solidFill>
                  <a:srgbClr val="F4ECE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1" i="0">
                <a:solidFill>
                  <a:srgbClr val="F4ECE3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F4ECE3"/>
                </a:solidFill>
                <a:latin typeface="Arial"/>
                <a:ea typeface="Arial"/>
                <a:cs typeface="Arial"/>
              </a:rPr>
              <a:t>Crie uma equipe ou use o código recebido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635F6F-EAC8-4234-9434-1E2633526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38600"/>
            <a:ext cx="666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6795"/>
          </a:bodyPr>
          <a:lstStyle xmlns:a="http://schemas.openxmlformats.org/drawingml/2006/main">
            <a:defPPr>
              <a:defRPr sz="3900" b="1" i="0">
                <a:solidFill>
                  <a:srgbClr val="D567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900" b="1" i="0">
                <a:solidFill>
                  <a:srgbClr val="D5673B"/>
                </a:solidFill>
                <a:latin typeface="Arial"/>
                <a:ea typeface="Arial"/>
                <a:cs typeface="Arial"/>
              </a:defRPr>
            </a:pPr>
            <a:r>
              <a:rPr sz="3900" b="1" i="0">
                <a:solidFill>
                  <a:srgbClr val="D5673B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9132C4-175E-4A55-B043-FFA3E822D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152900"/>
            <a:ext cx="6572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8851"/>
          </a:bodyPr>
          <a:lstStyle xmlns:a="http://schemas.openxmlformats.org/drawingml/2006/main">
            <a:defPPr>
              <a:defRPr sz="2175" b="1" i="0">
                <a:solidFill>
                  <a:srgbClr val="F4ECE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1" i="0">
                <a:solidFill>
                  <a:srgbClr val="F4ECE3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F4ECE3"/>
                </a:solidFill>
                <a:latin typeface="Arial"/>
                <a:ea typeface="Arial"/>
                <a:cs typeface="Arial"/>
              </a:rPr>
              <a:t>Distribua as quatro responsabilidades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980EF5-6C89-4441-B393-3856D264B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14975"/>
            <a:ext cx="800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350" b="0" i="0">
                <a:solidFill>
                  <a:srgbClr val="D4A86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 i="0">
                <a:solidFill>
                  <a:srgbClr val="D4A868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D4A868"/>
                </a:solidFill>
                <a:latin typeface="Arial"/>
                <a:ea typeface="Arial"/>
                <a:cs typeface="Arial"/>
              </a:rPr>
              <a:t>O cronômetro começa quando o professor liberar o acesso.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FC0CE4-1F55-48C8-B74A-67D8EBF31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428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>
            <a:defPPr>
              <a:defRPr sz="750" b="1" i="0">
                <a:solidFill>
                  <a:srgbClr val="7E747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750" b="1" i="0">
                <a:solidFill>
                  <a:srgbClr val="7E7471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7E7471"/>
                </a:solidFill>
                <a:latin typeface="Arial"/>
                <a:ea typeface="Arial"/>
                <a:cs typeface="Arial"/>
              </a:rPr>
              <a:t>O ÚLTIMO AXIOMA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898377-9E01-434D-8965-FE6755663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>
            <a:defPPr>
              <a:defRPr sz="750" b="1" i="0">
                <a:solidFill>
                  <a:srgbClr val="7E747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750" b="1" i="0">
                <a:solidFill>
                  <a:srgbClr val="7E7471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7E7471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89656742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E0D1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C74078C-20FC-4DCD-99BB-73BD39887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975" b="1" i="0">
                <a:solidFill>
                  <a:srgbClr val="D567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75" b="1" i="0">
                <a:solidFill>
                  <a:srgbClr val="D5673B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D5673B"/>
                </a:solidFill>
                <a:latin typeface="Arial"/>
                <a:ea typeface="Arial"/>
                <a:cs typeface="Arial"/>
              </a:rPr>
              <a:t>SELO 1 · CONJUNTOS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7019DF-F8F9-4797-88F7-13C02A7FB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971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3150" b="1" i="0">
                <a:solidFill>
                  <a:srgbClr val="F4ECE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 i="0">
                <a:solidFill>
                  <a:srgbClr val="F4ECE3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F4ECE3"/>
                </a:solidFill>
                <a:latin typeface="Arial"/>
                <a:ea typeface="Arial"/>
                <a:cs typeface="Arial"/>
              </a:rPr>
              <a:t>Arquivo Vazio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7151FB-E906-4DDC-BEE2-516872049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71625"/>
            <a:ext cx="7334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275" b="0" i="1">
                <a:solidFill>
                  <a:srgbClr val="B5AAA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 i="1">
                <a:solidFill>
                  <a:srgbClr val="B5AAA4"/>
                </a:solidFill>
                <a:latin typeface="Arial"/>
                <a:ea typeface="Arial"/>
                <a:cs typeface="Arial"/>
              </a:defRPr>
            </a:pPr>
            <a:r>
              <a:rPr sz="1275" b="0" i="1">
                <a:solidFill>
                  <a:srgbClr val="B5AAA4"/>
                </a:solidFill>
                <a:latin typeface="Arial"/>
                <a:ea typeface="Arial"/>
                <a:cs typeface="Arial"/>
              </a:rPr>
              <a:t>Fichas sem origem surgem em um arquivo que não deveria existir.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604466-BAE9-473C-92E4-6F7E5B5DE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71700"/>
            <a:ext cx="7239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67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A7A09E-CC1F-4128-A2E2-5126EC46E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7239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950" b="1" i="0">
                <a:solidFill>
                  <a:srgbClr val="F4ECE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1" i="0">
                <a:solidFill>
                  <a:srgbClr val="F4ECE3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F4ECE3"/>
                </a:solidFill>
                <a:latin typeface="Arial"/>
                <a:ea typeface="Arial"/>
                <a:cs typeface="Arial"/>
              </a:rPr>
              <a:t>Calcule (A ∪ B) \ C e registre a cardinalidade.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9AF9A4-5E3F-4EA7-BEE7-A4A36432C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514350"/>
            <a:ext cx="3162300" cy="5314950"/>
          </a:xfrm>
          <a:prstGeom xmlns:a="http://schemas.openxmlformats.org/drawingml/2006/main" prst="roundRect">
            <a:avLst>
              <a:gd name="adj" fmla="val 3614"/>
            </a:avLst>
          </a:prstGeom>
          <a:solidFill xmlns:a="http://schemas.openxmlformats.org/drawingml/2006/main">
            <a:srgbClr val="1B181D"/>
          </a:solidFill>
          <a:ln xmlns:a="http://schemas.openxmlformats.org/drawingml/2006/main" w="9525">
            <a:solidFill>
              <a:srgbClr val="40363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9A82E3-2275-4905-ADAA-78482D379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7810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050" b="1" i="0">
                <a:solidFill>
                  <a:srgbClr val="D4A86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1" i="0">
                <a:solidFill>
                  <a:srgbClr val="D4A868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D4A868"/>
                </a:solidFill>
                <a:latin typeface="Arial"/>
                <a:ea typeface="Arial"/>
                <a:cs typeface="Arial"/>
              </a:rPr>
              <a:t>RUNA 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4C2883-06C1-4C03-802E-041694DC2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1190625"/>
            <a:ext cx="90487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5400" b="1" i="0">
                <a:solidFill>
                  <a:srgbClr val="D567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5400" b="1" i="0">
                <a:solidFill>
                  <a:srgbClr val="D5673B"/>
                </a:solidFill>
                <a:latin typeface="Arial"/>
                <a:ea typeface="Arial"/>
                <a:cs typeface="Arial"/>
              </a:defRPr>
            </a:pPr>
            <a:r>
              <a:rPr sz="5400" b="1" i="0">
                <a:solidFill>
                  <a:srgbClr val="D5673B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692A79-7C9A-406B-8A75-B1D0B0524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1504950"/>
            <a:ext cx="114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3333"/>
          </a:bodyPr>
          <a:lstStyle xmlns:a="http://schemas.openxmlformats.org/drawingml/2006/main">
            <a:defPPr>
              <a:defRPr sz="1500" b="1" i="0">
                <a:solidFill>
                  <a:srgbClr val="B5AAA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1" i="0">
                <a:solidFill>
                  <a:srgbClr val="B5AAA4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B5AAA4"/>
                </a:solidFill>
                <a:latin typeface="Arial"/>
                <a:ea typeface="Arial"/>
                <a:cs typeface="Arial"/>
              </a:rPr>
              <a:t>14 min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F93BDA-E78C-4FBD-93AC-E06F10F30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400300"/>
            <a:ext cx="25336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275" b="0" i="0">
                <a:solidFill>
                  <a:srgbClr val="F4ECE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 i="0">
                <a:solidFill>
                  <a:srgbClr val="F4ECE3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F4ECE3"/>
                </a:solidFill>
                <a:latin typeface="Arial"/>
                <a:ea typeface="Arial"/>
                <a:cs typeface="Arial"/>
              </a:rPr>
              <a:t>A = {1,2,3,5,8,12}</a:t>
            </a:r>
          </a:p>
          <a:p xmlns:a="http://schemas.openxmlformats.org/drawingml/2006/main">
            <a:pPr>
              <a:defRPr sz="1275" b="0" i="0">
                <a:solidFill>
                  <a:srgbClr val="F4ECE3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F4ECE3"/>
                </a:solidFill>
                <a:latin typeface="Arial"/>
                <a:ea typeface="Arial"/>
                <a:cs typeface="Arial"/>
              </a:rPr>
              <a:t>B = {2,4,5,7,8,11}</a:t>
            </a:r>
          </a:p>
          <a:p xmlns:a="http://schemas.openxmlformats.org/drawingml/2006/main">
            <a:pPr>
              <a:defRPr sz="1275" b="0" i="0">
                <a:solidFill>
                  <a:srgbClr val="F4ECE3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F4ECE3"/>
                </a:solidFill>
                <a:latin typeface="Arial"/>
                <a:ea typeface="Arial"/>
                <a:cs typeface="Arial"/>
              </a:rPr>
              <a:t>C = {1,4,8,10}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8FED89-5DD9-4184-A6C3-2BC610C4D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42481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900" b="1" i="0">
                <a:solidFill>
                  <a:srgbClr val="D567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00" b="1" i="0">
                <a:solidFill>
                  <a:srgbClr val="D5673B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D5673B"/>
                </a:solidFill>
                <a:latin typeface="Arial"/>
                <a:ea typeface="Arial"/>
                <a:cs typeface="Arial"/>
              </a:rPr>
              <a:t>EVIDÊNCIAS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8173AD6-65FA-4CF5-B3DF-25D2F5851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4572000"/>
            <a:ext cx="2190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350" b="0" i="0">
                <a:solidFill>
                  <a:srgbClr val="B5AAA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 i="0">
                <a:solidFill>
                  <a:srgbClr val="B5AAA4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B5AAA4"/>
                </a:solidFill>
                <a:latin typeface="Arial"/>
                <a:ea typeface="Arial"/>
                <a:cs typeface="Arial"/>
              </a:rPr>
              <a:t>Representação</a:t>
            </a:r>
          </a:p>
          <a:p xmlns:a="http://schemas.openxmlformats.org/drawingml/2006/main">
            <a:pPr>
              <a:defRPr sz="1350" b="0" i="0">
                <a:solidFill>
                  <a:srgbClr val="B5AAA4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B5AAA4"/>
                </a:solidFill>
                <a:latin typeface="Arial"/>
                <a:ea typeface="Arial"/>
                <a:cs typeface="Arial"/>
              </a:rPr>
              <a:t>Resultado</a:t>
            </a:r>
          </a:p>
          <a:p xmlns:a="http://schemas.openxmlformats.org/drawingml/2006/main">
            <a:pPr>
              <a:defRPr sz="1350" b="0" i="0">
                <a:solidFill>
                  <a:srgbClr val="B5AAA4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B5AAA4"/>
                </a:solidFill>
                <a:latin typeface="Arial"/>
                <a:ea typeface="Arial"/>
                <a:cs typeface="Arial"/>
              </a:rPr>
              <a:t>Teste</a:t>
            </a:r>
          </a:p>
          <a:p xmlns:a="http://schemas.openxmlformats.org/drawingml/2006/main">
            <a:pPr>
              <a:defRPr sz="1350" b="0" i="0">
                <a:solidFill>
                  <a:srgbClr val="B5AAA4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B5AAA4"/>
                </a:solidFill>
                <a:latin typeface="Arial"/>
                <a:ea typeface="Arial"/>
                <a:cs typeface="Arial"/>
              </a:rPr>
              <a:t>Explicação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1E6A948-AF52-4B90-8FF0-4B3F6EA37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3880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200" b="0" i="0">
                <a:solidFill>
                  <a:srgbClr val="D4A86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 i="0">
                <a:solidFill>
                  <a:srgbClr val="D4A868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D4A868"/>
                </a:solidFill>
                <a:latin typeface="Arial"/>
                <a:ea typeface="Arial"/>
                <a:cs typeface="Arial"/>
              </a:rPr>
              <a:t>A resposta só vale quando os quatro registros concordam.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3F5410D-175D-45E6-861C-3885A94B5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428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>
            <a:defPPr>
              <a:defRPr sz="750" b="1" i="0">
                <a:solidFill>
                  <a:srgbClr val="7E747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750" b="1" i="0">
                <a:solidFill>
                  <a:srgbClr val="7E7471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7E7471"/>
                </a:solidFill>
                <a:latin typeface="Arial"/>
                <a:ea typeface="Arial"/>
                <a:cs typeface="Arial"/>
              </a:rPr>
              <a:t>SETE SELOS DO PARADOXO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AD7E1C3-D7FE-43C1-888C-72861DB82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>
            <a:defPPr>
              <a:defRPr sz="750" b="1" i="0">
                <a:solidFill>
                  <a:srgbClr val="7E747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750" b="1" i="0">
                <a:solidFill>
                  <a:srgbClr val="7E7471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7E7471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84263315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E0D1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25A04DA-A2B2-43EC-8ABE-8D78656D6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975" b="1" i="0">
                <a:solidFill>
                  <a:srgbClr val="D567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75" b="1" i="0">
                <a:solidFill>
                  <a:srgbClr val="D5673B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D5673B"/>
                </a:solidFill>
                <a:latin typeface="Arial"/>
                <a:ea typeface="Arial"/>
                <a:cs typeface="Arial"/>
              </a:rPr>
              <a:t>SELO 2 · RELAÇÕES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D733C7-72A1-46E7-B64E-BE94E567C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971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3150" b="1" i="0">
                <a:solidFill>
                  <a:srgbClr val="F4ECE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 i="0">
                <a:solidFill>
                  <a:srgbClr val="F4ECE3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F4ECE3"/>
                </a:solidFill>
                <a:latin typeface="Arial"/>
                <a:ea typeface="Arial"/>
                <a:cs typeface="Arial"/>
              </a:rPr>
              <a:t>Corredor dos Vínculos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442EAE-CA14-43CA-95D1-3ECD0FB37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71625"/>
            <a:ext cx="7334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275" b="0" i="1">
                <a:solidFill>
                  <a:srgbClr val="B5AAA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 i="1">
                <a:solidFill>
                  <a:srgbClr val="B5AAA4"/>
                </a:solidFill>
                <a:latin typeface="Arial"/>
                <a:ea typeface="Arial"/>
                <a:cs typeface="Arial"/>
              </a:defRPr>
            </a:pPr>
            <a:r>
              <a:rPr sz="1275" b="0" i="1">
                <a:solidFill>
                  <a:srgbClr val="B5AAA4"/>
                </a:solidFill>
                <a:latin typeface="Arial"/>
                <a:ea typeface="Arial"/>
                <a:cs typeface="Arial"/>
              </a:rPr>
              <a:t>Retratos ligados por fios mudam quando ninguém os observa.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A3DB78-AE4E-49BB-91C9-EC08FF5BA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71700"/>
            <a:ext cx="7239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67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A44EAE-B942-4B8B-AAF9-4A1B071FD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7239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950" b="1" i="0">
                <a:solidFill>
                  <a:srgbClr val="F4ECE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1" i="0">
                <a:solidFill>
                  <a:srgbClr val="F4ECE3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F4ECE3"/>
                </a:solidFill>
                <a:latin typeface="Arial"/>
                <a:ea typeface="Arial"/>
                <a:cs typeface="Arial"/>
              </a:rPr>
              <a:t>Classifique a relação e encontre o par que restaura a transitividade.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1FDD51-35EF-488B-AE53-75AA6EE28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514350"/>
            <a:ext cx="3162300" cy="5314950"/>
          </a:xfrm>
          <a:prstGeom xmlns:a="http://schemas.openxmlformats.org/drawingml/2006/main" prst="roundRect">
            <a:avLst>
              <a:gd name="adj" fmla="val 3614"/>
            </a:avLst>
          </a:prstGeom>
          <a:solidFill xmlns:a="http://schemas.openxmlformats.org/drawingml/2006/main">
            <a:srgbClr val="1B181D"/>
          </a:solidFill>
          <a:ln xmlns:a="http://schemas.openxmlformats.org/drawingml/2006/main" w="9525">
            <a:solidFill>
              <a:srgbClr val="40363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6A68BE-9E34-4382-A08C-77CBDB22C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7810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050" b="1" i="0">
                <a:solidFill>
                  <a:srgbClr val="D4A86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1" i="0">
                <a:solidFill>
                  <a:srgbClr val="D4A868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D4A868"/>
                </a:solidFill>
                <a:latin typeface="Arial"/>
                <a:ea typeface="Arial"/>
                <a:cs typeface="Arial"/>
              </a:rPr>
              <a:t>RUNA 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89329E-9463-4BAB-905E-AFAD6795F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1190625"/>
            <a:ext cx="90487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5400" b="1" i="0">
                <a:solidFill>
                  <a:srgbClr val="D567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5400" b="1" i="0">
                <a:solidFill>
                  <a:srgbClr val="D5673B"/>
                </a:solidFill>
                <a:latin typeface="Arial"/>
                <a:ea typeface="Arial"/>
                <a:cs typeface="Arial"/>
              </a:defRPr>
            </a:pPr>
            <a:r>
              <a:rPr sz="5400" b="1" i="0">
                <a:solidFill>
                  <a:srgbClr val="D5673B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510507-4660-4F88-8365-E0F7C3CFB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1504950"/>
            <a:ext cx="114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3333"/>
          </a:bodyPr>
          <a:lstStyle xmlns:a="http://schemas.openxmlformats.org/drawingml/2006/main">
            <a:defPPr>
              <a:defRPr sz="1500" b="1" i="0">
                <a:solidFill>
                  <a:srgbClr val="B5AAA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1" i="0">
                <a:solidFill>
                  <a:srgbClr val="B5AAA4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B5AAA4"/>
                </a:solidFill>
                <a:latin typeface="Arial"/>
                <a:ea typeface="Arial"/>
                <a:cs typeface="Arial"/>
              </a:rPr>
              <a:t>14 min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0D0E7B-0E96-41C0-BEC1-FB4EA888E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400300"/>
            <a:ext cx="25336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275" b="0" i="0">
                <a:solidFill>
                  <a:srgbClr val="F4ECE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 i="0">
                <a:solidFill>
                  <a:srgbClr val="F4ECE3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F4ECE3"/>
                </a:solidFill>
                <a:latin typeface="Arial"/>
                <a:ea typeface="Arial"/>
                <a:cs typeface="Arial"/>
              </a:rPr>
              <a:t>S = {A,B,C,D}</a:t>
            </a:r>
          </a:p>
          <a:p xmlns:a="http://schemas.openxmlformats.org/drawingml/2006/main">
            <a:pPr>
              <a:defRPr sz="1275" b="0" i="0">
                <a:solidFill>
                  <a:srgbClr val="F4ECE3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F4ECE3"/>
                </a:solidFill>
                <a:latin typeface="Arial"/>
                <a:ea typeface="Arial"/>
                <a:cs typeface="Arial"/>
              </a:rPr>
              <a:t>Laços em todos os elementos</a:t>
            </a:r>
          </a:p>
          <a:p xmlns:a="http://schemas.openxmlformats.org/drawingml/2006/main">
            <a:pPr>
              <a:defRPr sz="1275" b="0" i="0">
                <a:solidFill>
                  <a:srgbClr val="F4ECE3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F4ECE3"/>
                </a:solidFill>
                <a:latin typeface="Arial"/>
                <a:ea typeface="Arial"/>
                <a:cs typeface="Arial"/>
              </a:rPr>
              <a:t>A se liga a B</a:t>
            </a:r>
          </a:p>
          <a:p xmlns:a="http://schemas.openxmlformats.org/drawingml/2006/main">
            <a:pPr>
              <a:defRPr sz="1275" b="0" i="0">
                <a:solidFill>
                  <a:srgbClr val="F4ECE3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F4ECE3"/>
                </a:solidFill>
                <a:latin typeface="Arial"/>
                <a:ea typeface="Arial"/>
                <a:cs typeface="Arial"/>
              </a:rPr>
              <a:t>B se liga a C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AD8E06-B009-46BC-AA96-755BE6D69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42481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900" b="1" i="0">
                <a:solidFill>
                  <a:srgbClr val="D567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00" b="1" i="0">
                <a:solidFill>
                  <a:srgbClr val="D5673B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D5673B"/>
                </a:solidFill>
                <a:latin typeface="Arial"/>
                <a:ea typeface="Arial"/>
                <a:cs typeface="Arial"/>
              </a:rPr>
              <a:t>EVIDÊNCIAS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85A85C2-6972-4112-86E5-1F9AE3364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4572000"/>
            <a:ext cx="2190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350" b="0" i="0">
                <a:solidFill>
                  <a:srgbClr val="B5AAA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 i="0">
                <a:solidFill>
                  <a:srgbClr val="B5AAA4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B5AAA4"/>
                </a:solidFill>
                <a:latin typeface="Arial"/>
                <a:ea typeface="Arial"/>
                <a:cs typeface="Arial"/>
              </a:rPr>
              <a:t>Representação</a:t>
            </a:r>
          </a:p>
          <a:p xmlns:a="http://schemas.openxmlformats.org/drawingml/2006/main">
            <a:pPr>
              <a:defRPr sz="1350" b="0" i="0">
                <a:solidFill>
                  <a:srgbClr val="B5AAA4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B5AAA4"/>
                </a:solidFill>
                <a:latin typeface="Arial"/>
                <a:ea typeface="Arial"/>
                <a:cs typeface="Arial"/>
              </a:rPr>
              <a:t>Resultado</a:t>
            </a:r>
          </a:p>
          <a:p xmlns:a="http://schemas.openxmlformats.org/drawingml/2006/main">
            <a:pPr>
              <a:defRPr sz="1350" b="0" i="0">
                <a:solidFill>
                  <a:srgbClr val="B5AAA4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B5AAA4"/>
                </a:solidFill>
                <a:latin typeface="Arial"/>
                <a:ea typeface="Arial"/>
                <a:cs typeface="Arial"/>
              </a:rPr>
              <a:t>Teste</a:t>
            </a:r>
          </a:p>
          <a:p xmlns:a="http://schemas.openxmlformats.org/drawingml/2006/main">
            <a:pPr>
              <a:defRPr sz="1350" b="0" i="0">
                <a:solidFill>
                  <a:srgbClr val="B5AAA4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B5AAA4"/>
                </a:solidFill>
                <a:latin typeface="Arial"/>
                <a:ea typeface="Arial"/>
                <a:cs typeface="Arial"/>
              </a:rPr>
              <a:t>Explicação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9E82730-1972-47A7-AD80-AC0D6BDB3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3880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200" b="0" i="0">
                <a:solidFill>
                  <a:srgbClr val="D4A86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 i="0">
                <a:solidFill>
                  <a:srgbClr val="D4A868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D4A868"/>
                </a:solidFill>
                <a:latin typeface="Arial"/>
                <a:ea typeface="Arial"/>
                <a:cs typeface="Arial"/>
              </a:rPr>
              <a:t>A resposta só vale quando os quatro registros concordam.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B406DA6-3B8C-4F91-9F98-C758AB186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428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>
            <a:defPPr>
              <a:defRPr sz="750" b="1" i="0">
                <a:solidFill>
                  <a:srgbClr val="7E747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750" b="1" i="0">
                <a:solidFill>
                  <a:srgbClr val="7E7471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7E7471"/>
                </a:solidFill>
                <a:latin typeface="Arial"/>
                <a:ea typeface="Arial"/>
                <a:cs typeface="Arial"/>
              </a:rPr>
              <a:t>SETE SELOS DO PARADOXO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D0C5F4D-E826-4BF6-894C-A8523F341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>
            <a:defPPr>
              <a:defRPr sz="750" b="1" i="0">
                <a:solidFill>
                  <a:srgbClr val="7E747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750" b="1" i="0">
                <a:solidFill>
                  <a:srgbClr val="7E7471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7E7471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68261872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E0D1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82625D2-DB93-4ED7-BF73-B4FC4AB85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975" b="1" i="0">
                <a:solidFill>
                  <a:srgbClr val="D567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75" b="1" i="0">
                <a:solidFill>
                  <a:srgbClr val="D5673B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D5673B"/>
                </a:solidFill>
                <a:latin typeface="Arial"/>
                <a:ea typeface="Arial"/>
                <a:cs typeface="Arial"/>
              </a:rPr>
              <a:t>SELO 3 · FUNÇÕES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5454C7-D8AC-49E6-8DA2-B4C0A1382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971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3150" b="1" i="0">
                <a:solidFill>
                  <a:srgbClr val="F4ECE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 i="0">
                <a:solidFill>
                  <a:srgbClr val="F4ECE3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F4ECE3"/>
                </a:solidFill>
                <a:latin typeface="Arial"/>
                <a:ea typeface="Arial"/>
                <a:cs typeface="Arial"/>
              </a:rPr>
              <a:t>Galeria dos Espelhos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DD00BD-A66D-4017-B1E8-8E21181E3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71625"/>
            <a:ext cx="7334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275" b="0" i="1">
                <a:solidFill>
                  <a:srgbClr val="B5AAA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 i="1">
                <a:solidFill>
                  <a:srgbClr val="B5AAA4"/>
                </a:solidFill>
                <a:latin typeface="Arial"/>
                <a:ea typeface="Arial"/>
                <a:cs typeface="Arial"/>
              </a:defRPr>
            </a:pPr>
            <a:r>
              <a:rPr sz="1275" b="0" i="1">
                <a:solidFill>
                  <a:srgbClr val="B5AAA4"/>
                </a:solidFill>
                <a:latin typeface="Arial"/>
                <a:ea typeface="Arial"/>
                <a:cs typeface="Arial"/>
              </a:rPr>
              <a:t>Dois reflexos ocupam o mesmo destino enquanto uma saída permanece vazia.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0E076F-84FB-419E-9D7B-1251775D8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71700"/>
            <a:ext cx="7239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67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B190A6-7569-47B1-A925-82A196C79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7239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950" b="1" i="0">
                <a:solidFill>
                  <a:srgbClr val="F4ECE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1" i="0">
                <a:solidFill>
                  <a:srgbClr val="F4ECE3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F4ECE3"/>
                </a:solidFill>
                <a:latin typeface="Arial"/>
                <a:ea typeface="Arial"/>
                <a:cs typeface="Arial"/>
              </a:rPr>
              <a:t>Classifique a função e altere uma imagem para obter uma bijeção.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E4398D-9720-4081-AF5E-40E89848E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514350"/>
            <a:ext cx="3162300" cy="5314950"/>
          </a:xfrm>
          <a:prstGeom xmlns:a="http://schemas.openxmlformats.org/drawingml/2006/main" prst="roundRect">
            <a:avLst>
              <a:gd name="adj" fmla="val 3614"/>
            </a:avLst>
          </a:prstGeom>
          <a:solidFill xmlns:a="http://schemas.openxmlformats.org/drawingml/2006/main">
            <a:srgbClr val="1B181D"/>
          </a:solidFill>
          <a:ln xmlns:a="http://schemas.openxmlformats.org/drawingml/2006/main" w="9525">
            <a:solidFill>
              <a:srgbClr val="40363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564CF8-83A9-4272-B5FF-50C3A8B2B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7810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050" b="1" i="0">
                <a:solidFill>
                  <a:srgbClr val="D4A86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1" i="0">
                <a:solidFill>
                  <a:srgbClr val="D4A868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D4A868"/>
                </a:solidFill>
                <a:latin typeface="Arial"/>
                <a:ea typeface="Arial"/>
                <a:cs typeface="Arial"/>
              </a:rPr>
              <a:t>RUNA 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6641F2-50F2-4D7E-A5EE-A98B87B7C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1190625"/>
            <a:ext cx="90487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5400" b="1" i="0">
                <a:solidFill>
                  <a:srgbClr val="D567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5400" b="1" i="0">
                <a:solidFill>
                  <a:srgbClr val="D5673B"/>
                </a:solidFill>
                <a:latin typeface="Arial"/>
                <a:ea typeface="Arial"/>
                <a:cs typeface="Arial"/>
              </a:defRPr>
            </a:pPr>
            <a:r>
              <a:rPr sz="5400" b="1" i="0">
                <a:solidFill>
                  <a:srgbClr val="D5673B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86CE54-96E9-4CA7-A1F5-C21893C9C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1504950"/>
            <a:ext cx="114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3333"/>
          </a:bodyPr>
          <a:lstStyle xmlns:a="http://schemas.openxmlformats.org/drawingml/2006/main">
            <a:defPPr>
              <a:defRPr sz="1500" b="1" i="0">
                <a:solidFill>
                  <a:srgbClr val="B5AAA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1" i="0">
                <a:solidFill>
                  <a:srgbClr val="B5AAA4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B5AAA4"/>
                </a:solidFill>
                <a:latin typeface="Arial"/>
                <a:ea typeface="Arial"/>
                <a:cs typeface="Arial"/>
              </a:rPr>
              <a:t>14 min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C02B44-B769-4037-95F5-429580BF8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400300"/>
            <a:ext cx="25336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275" b="0" i="0">
                <a:solidFill>
                  <a:srgbClr val="F4ECE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 i="0">
                <a:solidFill>
                  <a:srgbClr val="F4ECE3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F4ECE3"/>
                </a:solidFill>
                <a:latin typeface="Arial"/>
                <a:ea typeface="Arial"/>
                <a:cs typeface="Arial"/>
              </a:rPr>
              <a:t>Iris ↦ Leste</a:t>
            </a:r>
          </a:p>
          <a:p xmlns:a="http://schemas.openxmlformats.org/drawingml/2006/main">
            <a:pPr>
              <a:defRPr sz="1275" b="0" i="0">
                <a:solidFill>
                  <a:srgbClr val="F4ECE3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F4ECE3"/>
                </a:solidFill>
                <a:latin typeface="Arial"/>
                <a:ea typeface="Arial"/>
                <a:cs typeface="Arial"/>
              </a:rPr>
              <a:t>Nox ↦ Sul</a:t>
            </a:r>
          </a:p>
          <a:p xmlns:a="http://schemas.openxmlformats.org/drawingml/2006/main">
            <a:pPr>
              <a:defRPr sz="1275" b="0" i="0">
                <a:solidFill>
                  <a:srgbClr val="F4ECE3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F4ECE3"/>
                </a:solidFill>
                <a:latin typeface="Arial"/>
                <a:ea typeface="Arial"/>
                <a:cs typeface="Arial"/>
              </a:rPr>
              <a:t>Orfeu ↦ Leste</a:t>
            </a:r>
          </a:p>
          <a:p xmlns:a="http://schemas.openxmlformats.org/drawingml/2006/main">
            <a:pPr>
              <a:defRPr sz="1275" b="0" i="0">
                <a:solidFill>
                  <a:srgbClr val="F4ECE3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F4ECE3"/>
                </a:solidFill>
                <a:latin typeface="Arial"/>
                <a:ea typeface="Arial"/>
                <a:cs typeface="Arial"/>
              </a:rPr>
              <a:t>Salma ↦ Norte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77021EE-AC20-4B90-BE12-E3EB2ADD8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42481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900" b="1" i="0">
                <a:solidFill>
                  <a:srgbClr val="D567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00" b="1" i="0">
                <a:solidFill>
                  <a:srgbClr val="D5673B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D5673B"/>
                </a:solidFill>
                <a:latin typeface="Arial"/>
                <a:ea typeface="Arial"/>
                <a:cs typeface="Arial"/>
              </a:rPr>
              <a:t>EVIDÊNCIAS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D386C08-ECAE-402A-BD7D-986253B9C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4572000"/>
            <a:ext cx="2190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350" b="0" i="0">
                <a:solidFill>
                  <a:srgbClr val="B5AAA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 i="0">
                <a:solidFill>
                  <a:srgbClr val="B5AAA4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B5AAA4"/>
                </a:solidFill>
                <a:latin typeface="Arial"/>
                <a:ea typeface="Arial"/>
                <a:cs typeface="Arial"/>
              </a:rPr>
              <a:t>Representação</a:t>
            </a:r>
          </a:p>
          <a:p xmlns:a="http://schemas.openxmlformats.org/drawingml/2006/main">
            <a:pPr>
              <a:defRPr sz="1350" b="0" i="0">
                <a:solidFill>
                  <a:srgbClr val="B5AAA4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B5AAA4"/>
                </a:solidFill>
                <a:latin typeface="Arial"/>
                <a:ea typeface="Arial"/>
                <a:cs typeface="Arial"/>
              </a:rPr>
              <a:t>Resultado</a:t>
            </a:r>
          </a:p>
          <a:p xmlns:a="http://schemas.openxmlformats.org/drawingml/2006/main">
            <a:pPr>
              <a:defRPr sz="1350" b="0" i="0">
                <a:solidFill>
                  <a:srgbClr val="B5AAA4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B5AAA4"/>
                </a:solidFill>
                <a:latin typeface="Arial"/>
                <a:ea typeface="Arial"/>
                <a:cs typeface="Arial"/>
              </a:rPr>
              <a:t>Teste</a:t>
            </a:r>
          </a:p>
          <a:p xmlns:a="http://schemas.openxmlformats.org/drawingml/2006/main">
            <a:pPr>
              <a:defRPr sz="1350" b="0" i="0">
                <a:solidFill>
                  <a:srgbClr val="B5AAA4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B5AAA4"/>
                </a:solidFill>
                <a:latin typeface="Arial"/>
                <a:ea typeface="Arial"/>
                <a:cs typeface="Arial"/>
              </a:rPr>
              <a:t>Explicação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639A65F-1D56-42AB-B1B5-D0E1F35C2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3880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200" b="0" i="0">
                <a:solidFill>
                  <a:srgbClr val="D4A86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 i="0">
                <a:solidFill>
                  <a:srgbClr val="D4A868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D4A868"/>
                </a:solidFill>
                <a:latin typeface="Arial"/>
                <a:ea typeface="Arial"/>
                <a:cs typeface="Arial"/>
              </a:rPr>
              <a:t>A resposta só vale quando os quatro registros concordam.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A197A08-62B7-46AE-8C3F-AABC33734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428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>
            <a:defPPr>
              <a:defRPr sz="750" b="1" i="0">
                <a:solidFill>
                  <a:srgbClr val="7E747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750" b="1" i="0">
                <a:solidFill>
                  <a:srgbClr val="7E7471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7E7471"/>
                </a:solidFill>
                <a:latin typeface="Arial"/>
                <a:ea typeface="Arial"/>
                <a:cs typeface="Arial"/>
              </a:rPr>
              <a:t>SETE SELOS DO PARADOXO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698538B-D3C9-4D05-BB36-329E89123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>
            <a:defPPr>
              <a:defRPr sz="750" b="1" i="0">
                <a:solidFill>
                  <a:srgbClr val="7E747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750" b="1" i="0">
                <a:solidFill>
                  <a:srgbClr val="7E7471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7E7471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09112628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E0D1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DE6AEAC-0E2E-46A7-AD93-424976EFB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975" b="1" i="0">
                <a:solidFill>
                  <a:srgbClr val="D567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75" b="1" i="0">
                <a:solidFill>
                  <a:srgbClr val="D5673B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D5673B"/>
                </a:solidFill>
                <a:latin typeface="Arial"/>
                <a:ea typeface="Arial"/>
                <a:cs typeface="Arial"/>
              </a:rPr>
              <a:t>SELO 4 · LÓGICA E EQUIVALÊNCIAS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52ED96-97AD-44CD-B5D9-40B8F3A86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971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3150" b="1" i="0">
                <a:solidFill>
                  <a:srgbClr val="F4ECE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 i="0">
                <a:solidFill>
                  <a:srgbClr val="F4ECE3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F4ECE3"/>
                </a:solidFill>
                <a:latin typeface="Arial"/>
                <a:ea typeface="Arial"/>
                <a:cs typeface="Arial"/>
              </a:rPr>
              <a:t>Capela das Vozes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C8325F-7506-4DA1-9D0E-5E5FDDE11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71625"/>
            <a:ext cx="7334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275" b="0" i="1">
                <a:solidFill>
                  <a:srgbClr val="B5AAA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 i="1">
                <a:solidFill>
                  <a:srgbClr val="B5AAA4"/>
                </a:solidFill>
                <a:latin typeface="Arial"/>
                <a:ea typeface="Arial"/>
                <a:cs typeface="Arial"/>
              </a:defRPr>
            </a:pPr>
            <a:r>
              <a:rPr sz="1275" b="0" i="1">
                <a:solidFill>
                  <a:srgbClr val="B5AAA4"/>
                </a:solidFill>
                <a:latin typeface="Arial"/>
                <a:ea typeface="Arial"/>
                <a:cs typeface="Arial"/>
              </a:rPr>
              <a:t>Uma voz promete a abertura. Outra garante que ela não ocorreu.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9B8DC1-9D82-4AC1-B79D-E8C7680B8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71700"/>
            <a:ext cx="7239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67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2DDC98-95CF-4979-8F20-7D27E0EEB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7239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950" b="1" i="0">
                <a:solidFill>
                  <a:srgbClr val="F4ECE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1" i="0">
                <a:solidFill>
                  <a:srgbClr val="F4ECE3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F4ECE3"/>
                </a:solidFill>
                <a:latin typeface="Arial"/>
                <a:ea typeface="Arial"/>
                <a:cs typeface="Arial"/>
              </a:rPr>
              <a:t>Encontre a conclusão, classifique a fórmula e complete a equivalência.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ED408C-368C-4087-8A11-ECC777D87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514350"/>
            <a:ext cx="3162300" cy="5314950"/>
          </a:xfrm>
          <a:prstGeom xmlns:a="http://schemas.openxmlformats.org/drawingml/2006/main" prst="roundRect">
            <a:avLst>
              <a:gd name="adj" fmla="val 3614"/>
            </a:avLst>
          </a:prstGeom>
          <a:solidFill xmlns:a="http://schemas.openxmlformats.org/drawingml/2006/main">
            <a:srgbClr val="1B181D"/>
          </a:solidFill>
          <a:ln xmlns:a="http://schemas.openxmlformats.org/drawingml/2006/main" w="9525">
            <a:solidFill>
              <a:srgbClr val="40363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A05B97-B5E0-4FE4-B1CE-129FB7D0A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7810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050" b="1" i="0">
                <a:solidFill>
                  <a:srgbClr val="D4A86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1" i="0">
                <a:solidFill>
                  <a:srgbClr val="D4A868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D4A868"/>
                </a:solidFill>
                <a:latin typeface="Arial"/>
                <a:ea typeface="Arial"/>
                <a:cs typeface="Arial"/>
              </a:rPr>
              <a:t>RUNA 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AF78B2-6B72-4E16-AF40-8CAD1289A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1190625"/>
            <a:ext cx="90487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5400" b="1" i="0">
                <a:solidFill>
                  <a:srgbClr val="D567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5400" b="1" i="0">
                <a:solidFill>
                  <a:srgbClr val="D5673B"/>
                </a:solidFill>
                <a:latin typeface="Arial"/>
                <a:ea typeface="Arial"/>
                <a:cs typeface="Arial"/>
              </a:defRPr>
            </a:pPr>
            <a:r>
              <a:rPr sz="5400" b="1" i="0">
                <a:solidFill>
                  <a:srgbClr val="D5673B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2A9E44-6295-4A0B-9777-B64CB8BE0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1504950"/>
            <a:ext cx="114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3333"/>
          </a:bodyPr>
          <a:lstStyle xmlns:a="http://schemas.openxmlformats.org/drawingml/2006/main">
            <a:defPPr>
              <a:defRPr sz="1500" b="1" i="0">
                <a:solidFill>
                  <a:srgbClr val="B5AAA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1" i="0">
                <a:solidFill>
                  <a:srgbClr val="B5AAA4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B5AAA4"/>
                </a:solidFill>
                <a:latin typeface="Arial"/>
                <a:ea typeface="Arial"/>
                <a:cs typeface="Arial"/>
              </a:rPr>
              <a:t>18 min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075913-A6A7-40AA-9E39-BDD82C3A8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400300"/>
            <a:ext cx="25336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275" b="0" i="0">
                <a:solidFill>
                  <a:srgbClr val="F4ECE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 i="0">
                <a:solidFill>
                  <a:srgbClr val="F4ECE3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F4ECE3"/>
                </a:solidFill>
                <a:latin typeface="Arial"/>
                <a:ea typeface="Arial"/>
                <a:cs typeface="Arial"/>
              </a:rPr>
              <a:t>p → q</a:t>
            </a:r>
          </a:p>
          <a:p xmlns:a="http://schemas.openxmlformats.org/drawingml/2006/main">
            <a:pPr>
              <a:defRPr sz="1275" b="0" i="0">
                <a:solidFill>
                  <a:srgbClr val="F4ECE3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F4ECE3"/>
                </a:solidFill>
                <a:latin typeface="Arial"/>
                <a:ea typeface="Arial"/>
                <a:cs typeface="Arial"/>
              </a:rPr>
              <a:t>¬q</a:t>
            </a:r>
          </a:p>
          <a:p xmlns:a="http://schemas.openxmlformats.org/drawingml/2006/main">
            <a:pPr>
              <a:defRPr sz="1275" b="0" i="0">
                <a:solidFill>
                  <a:srgbClr val="F4ECE3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F4ECE3"/>
                </a:solidFill>
                <a:latin typeface="Arial"/>
                <a:ea typeface="Arial"/>
                <a:cs typeface="Arial"/>
              </a:rPr>
              <a:t>((p → q) ∧ ¬q) → ¬p</a:t>
            </a:r>
          </a:p>
          <a:p xmlns:a="http://schemas.openxmlformats.org/drawingml/2006/main">
            <a:pPr>
              <a:defRPr sz="1275" b="0" i="0">
                <a:solidFill>
                  <a:srgbClr val="F4ECE3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F4ECE3"/>
                </a:solidFill>
                <a:latin typeface="Arial"/>
                <a:ea typeface="Arial"/>
                <a:cs typeface="Arial"/>
              </a:rPr>
              <a:t>p → q ≡ 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F6EC37-C863-4920-98DA-92D73FD2B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42481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900" b="1" i="0">
                <a:solidFill>
                  <a:srgbClr val="D567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00" b="1" i="0">
                <a:solidFill>
                  <a:srgbClr val="D5673B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D5673B"/>
                </a:solidFill>
                <a:latin typeface="Arial"/>
                <a:ea typeface="Arial"/>
                <a:cs typeface="Arial"/>
              </a:rPr>
              <a:t>EVIDÊNCIAS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D052A98-527A-40D5-B04E-B61C4C106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4572000"/>
            <a:ext cx="2190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350" b="0" i="0">
                <a:solidFill>
                  <a:srgbClr val="B5AAA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 i="0">
                <a:solidFill>
                  <a:srgbClr val="B5AAA4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B5AAA4"/>
                </a:solidFill>
                <a:latin typeface="Arial"/>
                <a:ea typeface="Arial"/>
                <a:cs typeface="Arial"/>
              </a:rPr>
              <a:t>Representação</a:t>
            </a:r>
          </a:p>
          <a:p xmlns:a="http://schemas.openxmlformats.org/drawingml/2006/main">
            <a:pPr>
              <a:defRPr sz="1350" b="0" i="0">
                <a:solidFill>
                  <a:srgbClr val="B5AAA4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B5AAA4"/>
                </a:solidFill>
                <a:latin typeface="Arial"/>
                <a:ea typeface="Arial"/>
                <a:cs typeface="Arial"/>
              </a:rPr>
              <a:t>Resultado</a:t>
            </a:r>
          </a:p>
          <a:p xmlns:a="http://schemas.openxmlformats.org/drawingml/2006/main">
            <a:pPr>
              <a:defRPr sz="1350" b="0" i="0">
                <a:solidFill>
                  <a:srgbClr val="B5AAA4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B5AAA4"/>
                </a:solidFill>
                <a:latin typeface="Arial"/>
                <a:ea typeface="Arial"/>
                <a:cs typeface="Arial"/>
              </a:rPr>
              <a:t>Teste</a:t>
            </a:r>
          </a:p>
          <a:p xmlns:a="http://schemas.openxmlformats.org/drawingml/2006/main">
            <a:pPr>
              <a:defRPr sz="1350" b="0" i="0">
                <a:solidFill>
                  <a:srgbClr val="B5AAA4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B5AAA4"/>
                </a:solidFill>
                <a:latin typeface="Arial"/>
                <a:ea typeface="Arial"/>
                <a:cs typeface="Arial"/>
              </a:rPr>
              <a:t>Explicação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4469A7B-F4A9-4897-9A15-967A9C2AB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3880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200" b="0" i="0">
                <a:solidFill>
                  <a:srgbClr val="D4A86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 i="0">
                <a:solidFill>
                  <a:srgbClr val="D4A868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D4A868"/>
                </a:solidFill>
                <a:latin typeface="Arial"/>
                <a:ea typeface="Arial"/>
                <a:cs typeface="Arial"/>
              </a:rPr>
              <a:t>A resposta só vale quando os quatro registros concordam.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6431601-6268-4526-BE95-B865A7F51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428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>
            <a:defPPr>
              <a:defRPr sz="750" b="1" i="0">
                <a:solidFill>
                  <a:srgbClr val="7E747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750" b="1" i="0">
                <a:solidFill>
                  <a:srgbClr val="7E7471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7E7471"/>
                </a:solidFill>
                <a:latin typeface="Arial"/>
                <a:ea typeface="Arial"/>
                <a:cs typeface="Arial"/>
              </a:rPr>
              <a:t>SETE SELOS DO PARADOXO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91DAD7F-2E46-4FF0-B9E1-70169054B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>
            <a:defPPr>
              <a:defRPr sz="750" b="1" i="0">
                <a:solidFill>
                  <a:srgbClr val="7E747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750" b="1" i="0">
                <a:solidFill>
                  <a:srgbClr val="7E7471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7E7471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01442500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E0D1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D98CB8E-0372-46A8-BF7E-31D6A9964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975" b="1" i="0">
                <a:solidFill>
                  <a:srgbClr val="D567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75" b="1" i="0">
                <a:solidFill>
                  <a:srgbClr val="D5673B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D5673B"/>
                </a:solidFill>
                <a:latin typeface="Arial"/>
                <a:ea typeface="Arial"/>
                <a:cs typeface="Arial"/>
              </a:rPr>
              <a:t>SELO 5 · LÓGICA EM ALGORITMOS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0DAABD-3938-4A49-A852-85A12DC9C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971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3150" b="1" i="0">
                <a:solidFill>
                  <a:srgbClr val="F4ECE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 i="0">
                <a:solidFill>
                  <a:srgbClr val="F4ECE3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F4ECE3"/>
                </a:solidFill>
                <a:latin typeface="Arial"/>
                <a:ea typeface="Arial"/>
                <a:cs typeface="Arial"/>
              </a:rPr>
              <a:t>Autômato Cego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B51003-4975-4E6E-9735-A300A647B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71625"/>
            <a:ext cx="7334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275" b="0" i="1">
                <a:solidFill>
                  <a:srgbClr val="B5AAA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 i="1">
                <a:solidFill>
                  <a:srgbClr val="B5AAA4"/>
                </a:solidFill>
                <a:latin typeface="Arial"/>
                <a:ea typeface="Arial"/>
                <a:cs typeface="Arial"/>
              </a:defRPr>
            </a:pPr>
            <a:r>
              <a:rPr sz="1275" b="0" i="1">
                <a:solidFill>
                  <a:srgbClr val="B5AAA4"/>
                </a:solidFill>
                <a:latin typeface="Arial"/>
                <a:ea typeface="Arial"/>
                <a:cs typeface="Arial"/>
              </a:rPr>
              <a:t>O autômato executa qualquer regra, inclusive uma regra com precedência errada.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6E03F8-9B50-459A-84AC-D3A5C088A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71700"/>
            <a:ext cx="7239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67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C1B78C-920B-4B19-A8D7-C00560170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7239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950" b="1" i="0">
                <a:solidFill>
                  <a:srgbClr val="F4ECE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1" i="0">
                <a:solidFill>
                  <a:srgbClr val="F4ECE3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F4ECE3"/>
                </a:solidFill>
                <a:latin typeface="Arial"/>
                <a:ea typeface="Arial"/>
                <a:cs typeface="Arial"/>
              </a:rPr>
              <a:t>Escolha o predicado correto e informe as quatro saídas.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3DA195-EC04-4BAD-A01A-D683C8F23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514350"/>
            <a:ext cx="3162300" cy="5314950"/>
          </a:xfrm>
          <a:prstGeom xmlns:a="http://schemas.openxmlformats.org/drawingml/2006/main" prst="roundRect">
            <a:avLst>
              <a:gd name="adj" fmla="val 3614"/>
            </a:avLst>
          </a:prstGeom>
          <a:solidFill xmlns:a="http://schemas.openxmlformats.org/drawingml/2006/main">
            <a:srgbClr val="1B181D"/>
          </a:solidFill>
          <a:ln xmlns:a="http://schemas.openxmlformats.org/drawingml/2006/main" w="9525">
            <a:solidFill>
              <a:srgbClr val="40363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BDA840-E1B7-486A-A9B4-DE41520B1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7810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050" b="1" i="0">
                <a:solidFill>
                  <a:srgbClr val="D4A86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1" i="0">
                <a:solidFill>
                  <a:srgbClr val="D4A868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D4A868"/>
                </a:solidFill>
                <a:latin typeface="Arial"/>
                <a:ea typeface="Arial"/>
                <a:cs typeface="Arial"/>
              </a:rPr>
              <a:t>RUNA 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53FD64-5458-44D5-8110-778E05C06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1190625"/>
            <a:ext cx="90487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5400" b="1" i="0">
                <a:solidFill>
                  <a:srgbClr val="D567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5400" b="1" i="0">
                <a:solidFill>
                  <a:srgbClr val="D5673B"/>
                </a:solidFill>
                <a:latin typeface="Arial"/>
                <a:ea typeface="Arial"/>
                <a:cs typeface="Arial"/>
              </a:defRPr>
            </a:pPr>
            <a:r>
              <a:rPr sz="5400" b="1" i="0">
                <a:solidFill>
                  <a:srgbClr val="D5673B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C74475-BC8E-44A3-B68F-C9FD504A0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1504950"/>
            <a:ext cx="114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3333"/>
          </a:bodyPr>
          <a:lstStyle xmlns:a="http://schemas.openxmlformats.org/drawingml/2006/main">
            <a:defPPr>
              <a:defRPr sz="1500" b="1" i="0">
                <a:solidFill>
                  <a:srgbClr val="B5AAA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1" i="0">
                <a:solidFill>
                  <a:srgbClr val="B5AAA4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B5AAA4"/>
                </a:solidFill>
                <a:latin typeface="Arial"/>
                <a:ea typeface="Arial"/>
                <a:cs typeface="Arial"/>
              </a:rPr>
              <a:t>16 min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6C86F6-A8C1-4FF9-9252-E158FD1E0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400300"/>
            <a:ext cx="25336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275" b="0" i="0">
                <a:solidFill>
                  <a:srgbClr val="F4ECE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 i="0">
                <a:solidFill>
                  <a:srgbClr val="F4ECE3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F4ECE3"/>
                </a:solidFill>
                <a:latin typeface="Arial"/>
                <a:ea typeface="Arial"/>
                <a:cs typeface="Arial"/>
              </a:rPr>
              <a:t>(selo &amp;&amp; operador)</a:t>
            </a:r>
          </a:p>
          <a:p xmlns:a="http://schemas.openxmlformats.org/drawingml/2006/main">
            <a:pPr>
              <a:defRPr sz="1275" b="0" i="0">
                <a:solidFill>
                  <a:srgbClr val="F4ECE3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F4ECE3"/>
                </a:solidFill>
                <a:latin typeface="Arial"/>
                <a:ea typeface="Arial"/>
                <a:cs typeface="Arial"/>
              </a:rPr>
              <a:t>||</a:t>
            </a:r>
          </a:p>
          <a:p xmlns:a="http://schemas.openxmlformats.org/drawingml/2006/main">
            <a:pPr>
              <a:defRPr sz="1275" b="0" i="0">
                <a:solidFill>
                  <a:srgbClr val="F4ECE3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F4ECE3"/>
                </a:solidFill>
                <a:latin typeface="Arial"/>
                <a:ea typeface="Arial"/>
                <a:cs typeface="Arial"/>
              </a:rPr>
              <a:t>(emergencia &amp;&amp; guardiao)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 b="0" i="0">
                <a:solidFill>
                  <a:srgbClr val="F4ECE3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F4ECE3"/>
                </a:solidFill>
                <a:latin typeface="Arial"/>
                <a:ea typeface="Arial"/>
                <a:cs typeface="Arial"/>
              </a:rPr>
              <a:t>Testes: 1100 · 1010 · 0011 · 0110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5D9BDF-6969-4B12-AEC9-8066488B1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42481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900" b="1" i="0">
                <a:solidFill>
                  <a:srgbClr val="D567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00" b="1" i="0">
                <a:solidFill>
                  <a:srgbClr val="D5673B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D5673B"/>
                </a:solidFill>
                <a:latin typeface="Arial"/>
                <a:ea typeface="Arial"/>
                <a:cs typeface="Arial"/>
              </a:rPr>
              <a:t>EVIDÊNCIAS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1BCCA6B-5A87-4D56-AB5C-579DDD779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4572000"/>
            <a:ext cx="2190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350" b="0" i="0">
                <a:solidFill>
                  <a:srgbClr val="B5AAA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 i="0">
                <a:solidFill>
                  <a:srgbClr val="B5AAA4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B5AAA4"/>
                </a:solidFill>
                <a:latin typeface="Arial"/>
                <a:ea typeface="Arial"/>
                <a:cs typeface="Arial"/>
              </a:rPr>
              <a:t>Representação</a:t>
            </a:r>
          </a:p>
          <a:p xmlns:a="http://schemas.openxmlformats.org/drawingml/2006/main">
            <a:pPr>
              <a:defRPr sz="1350" b="0" i="0">
                <a:solidFill>
                  <a:srgbClr val="B5AAA4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B5AAA4"/>
                </a:solidFill>
                <a:latin typeface="Arial"/>
                <a:ea typeface="Arial"/>
                <a:cs typeface="Arial"/>
              </a:rPr>
              <a:t>Resultado</a:t>
            </a:r>
          </a:p>
          <a:p xmlns:a="http://schemas.openxmlformats.org/drawingml/2006/main">
            <a:pPr>
              <a:defRPr sz="1350" b="0" i="0">
                <a:solidFill>
                  <a:srgbClr val="B5AAA4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B5AAA4"/>
                </a:solidFill>
                <a:latin typeface="Arial"/>
                <a:ea typeface="Arial"/>
                <a:cs typeface="Arial"/>
              </a:rPr>
              <a:t>Teste</a:t>
            </a:r>
          </a:p>
          <a:p xmlns:a="http://schemas.openxmlformats.org/drawingml/2006/main">
            <a:pPr>
              <a:defRPr sz="1350" b="0" i="0">
                <a:solidFill>
                  <a:srgbClr val="B5AAA4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B5AAA4"/>
                </a:solidFill>
                <a:latin typeface="Arial"/>
                <a:ea typeface="Arial"/>
                <a:cs typeface="Arial"/>
              </a:rPr>
              <a:t>Explicação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2DAD44D-1A9E-42CB-8071-5BE14C6FB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3880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200" b="0" i="0">
                <a:solidFill>
                  <a:srgbClr val="D4A86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 i="0">
                <a:solidFill>
                  <a:srgbClr val="D4A868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D4A868"/>
                </a:solidFill>
                <a:latin typeface="Arial"/>
                <a:ea typeface="Arial"/>
                <a:cs typeface="Arial"/>
              </a:rPr>
              <a:t>A resposta só vale quando os quatro registros concordam.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1E85EB9-52DB-47C7-B438-CD5AF4A41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428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>
            <a:defPPr>
              <a:defRPr sz="750" b="1" i="0">
                <a:solidFill>
                  <a:srgbClr val="7E747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750" b="1" i="0">
                <a:solidFill>
                  <a:srgbClr val="7E7471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7E7471"/>
                </a:solidFill>
                <a:latin typeface="Arial"/>
                <a:ea typeface="Arial"/>
                <a:cs typeface="Arial"/>
              </a:rPr>
              <a:t>SETE SELOS DO PARADOXO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75397A5-32EB-4083-A056-3F06A79C3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>
            <a:defPPr>
              <a:defRPr sz="750" b="1" i="0">
                <a:solidFill>
                  <a:srgbClr val="7E747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750" b="1" i="0">
                <a:solidFill>
                  <a:srgbClr val="7E7471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7E7471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392258398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E0D1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6E32E7A-A7B1-465E-8403-9D2847697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975" b="1" i="0">
                <a:solidFill>
                  <a:srgbClr val="D567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75" b="1" i="0">
                <a:solidFill>
                  <a:srgbClr val="D5673B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D5673B"/>
                </a:solidFill>
                <a:latin typeface="Arial"/>
                <a:ea typeface="Arial"/>
                <a:cs typeface="Arial"/>
              </a:rPr>
              <a:t>SELO 6 · CIRCUITOS DIGITAIS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99C8A4-87D9-43CE-B9FA-A2EC4FE3D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971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3150" b="1" i="0">
                <a:solidFill>
                  <a:srgbClr val="F4ECE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 i="0">
                <a:solidFill>
                  <a:srgbClr val="F4ECE3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F4ECE3"/>
                </a:solidFill>
                <a:latin typeface="Arial"/>
                <a:ea typeface="Arial"/>
                <a:cs typeface="Arial"/>
              </a:rPr>
              <a:t>Sala das Lâmpadas Mortas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5E95BD-E6F0-45B2-B513-7934EEC8D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71625"/>
            <a:ext cx="7334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275" b="0" i="1">
                <a:solidFill>
                  <a:srgbClr val="B5AAA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 i="1">
                <a:solidFill>
                  <a:srgbClr val="B5AAA4"/>
                </a:solidFill>
                <a:latin typeface="Arial"/>
                <a:ea typeface="Arial"/>
                <a:cs typeface="Arial"/>
              </a:defRPr>
            </a:pPr>
            <a:r>
              <a:rPr sz="1275" b="0" i="1">
                <a:solidFill>
                  <a:srgbClr val="B5AAA4"/>
                </a:solidFill>
                <a:latin typeface="Arial"/>
                <a:ea typeface="Arial"/>
                <a:cs typeface="Arial"/>
              </a:rPr>
              <a:t>Duas chaves disputam um sinal enquanto um inibidor apaga a sala.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EB06DD-1024-44F9-B1C9-E424C0E1E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71700"/>
            <a:ext cx="7239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67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06D378-86EF-46F6-A7C8-73614DABE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7239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950" b="1" i="0">
                <a:solidFill>
                  <a:srgbClr val="F4ECE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1" i="0">
                <a:solidFill>
                  <a:srgbClr val="F4ECE3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F4ECE3"/>
                </a:solidFill>
                <a:latin typeface="Arial"/>
                <a:ea typeface="Arial"/>
                <a:cs typeface="Arial"/>
              </a:rPr>
              <a:t>Escreva a expressão e encontre as entradas que acendem a lâmpada.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FA8EC0-CF2E-4290-990D-A0FFC2704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514350"/>
            <a:ext cx="3162300" cy="5314950"/>
          </a:xfrm>
          <a:prstGeom xmlns:a="http://schemas.openxmlformats.org/drawingml/2006/main" prst="roundRect">
            <a:avLst>
              <a:gd name="adj" fmla="val 3614"/>
            </a:avLst>
          </a:prstGeom>
          <a:solidFill xmlns:a="http://schemas.openxmlformats.org/drawingml/2006/main">
            <a:srgbClr val="1B181D"/>
          </a:solidFill>
          <a:ln xmlns:a="http://schemas.openxmlformats.org/drawingml/2006/main" w="9525">
            <a:solidFill>
              <a:srgbClr val="40363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22B13B-53FF-423A-9971-2B381DF2E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7810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050" b="1" i="0">
                <a:solidFill>
                  <a:srgbClr val="D4A86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1" i="0">
                <a:solidFill>
                  <a:srgbClr val="D4A868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D4A868"/>
                </a:solidFill>
                <a:latin typeface="Arial"/>
                <a:ea typeface="Arial"/>
                <a:cs typeface="Arial"/>
              </a:rPr>
              <a:t>RUNA 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9CCC13-FFAF-404A-B3AB-5EE6DC5FC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1190625"/>
            <a:ext cx="90487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5400" b="1" i="0">
                <a:solidFill>
                  <a:srgbClr val="D567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5400" b="1" i="0">
                <a:solidFill>
                  <a:srgbClr val="D5673B"/>
                </a:solidFill>
                <a:latin typeface="Arial"/>
                <a:ea typeface="Arial"/>
                <a:cs typeface="Arial"/>
              </a:defRPr>
            </a:pPr>
            <a:r>
              <a:rPr sz="5400" b="1" i="0">
                <a:solidFill>
                  <a:srgbClr val="D5673B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46D5A6-5EC1-4CE3-A256-07FC3680A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1504950"/>
            <a:ext cx="114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3333"/>
          </a:bodyPr>
          <a:lstStyle xmlns:a="http://schemas.openxmlformats.org/drawingml/2006/main">
            <a:defPPr>
              <a:defRPr sz="1500" b="1" i="0">
                <a:solidFill>
                  <a:srgbClr val="B5AAA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1" i="0">
                <a:solidFill>
                  <a:srgbClr val="B5AAA4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B5AAA4"/>
                </a:solidFill>
                <a:latin typeface="Arial"/>
                <a:ea typeface="Arial"/>
                <a:cs typeface="Arial"/>
              </a:rPr>
              <a:t>16 min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E9A2BAB-3F16-4A94-91AE-FD15230BA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400300"/>
            <a:ext cx="25336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275" b="0" i="0">
                <a:solidFill>
                  <a:srgbClr val="F4ECE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 i="0">
                <a:solidFill>
                  <a:srgbClr val="F4ECE3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F4ECE3"/>
                </a:solidFill>
                <a:latin typeface="Arial"/>
                <a:ea typeface="Arial"/>
                <a:cs typeface="Arial"/>
              </a:rPr>
              <a:t>Entradas: A, B, I</a:t>
            </a:r>
          </a:p>
          <a:p xmlns:a="http://schemas.openxmlformats.org/drawingml/2006/main">
            <a:pPr>
              <a:defRPr sz="1275" b="0" i="0">
                <a:solidFill>
                  <a:srgbClr val="F4ECE3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F4ECE3"/>
                </a:solidFill>
                <a:latin typeface="Arial"/>
                <a:ea typeface="Arial"/>
                <a:cs typeface="Arial"/>
              </a:rPr>
              <a:t>Saída: L</a:t>
            </a:r>
          </a:p>
          <a:p xmlns:a="http://schemas.openxmlformats.org/drawingml/2006/main">
            <a:pPr>
              <a:defRPr sz="1275" b="0" i="0">
                <a:solidFill>
                  <a:srgbClr val="F4ECE3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F4ECE3"/>
                </a:solidFill>
                <a:latin typeface="Arial"/>
                <a:ea typeface="Arial"/>
                <a:cs typeface="Arial"/>
              </a:rPr>
              <a:t>A e B alimentam XOR</a:t>
            </a:r>
          </a:p>
          <a:p xmlns:a="http://schemas.openxmlformats.org/drawingml/2006/main">
            <a:pPr>
              <a:defRPr sz="1275" b="0" i="0">
                <a:solidFill>
                  <a:srgbClr val="F4ECE3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F4ECE3"/>
                </a:solidFill>
                <a:latin typeface="Arial"/>
                <a:ea typeface="Arial"/>
                <a:cs typeface="Arial"/>
              </a:rPr>
              <a:t>I passa por NOT</a:t>
            </a:r>
          </a:p>
          <a:p xmlns:a="http://schemas.openxmlformats.org/drawingml/2006/main">
            <a:pPr>
              <a:defRPr sz="1275" b="0" i="0">
                <a:solidFill>
                  <a:srgbClr val="F4ECE3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F4ECE3"/>
                </a:solidFill>
                <a:latin typeface="Arial"/>
                <a:ea typeface="Arial"/>
                <a:cs typeface="Arial"/>
              </a:rPr>
              <a:t>Os sinais seguem para AND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0AEDCC1-7519-469B-B849-4B506C0EA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42481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900" b="1" i="0">
                <a:solidFill>
                  <a:srgbClr val="D567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00" b="1" i="0">
                <a:solidFill>
                  <a:srgbClr val="D5673B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D5673B"/>
                </a:solidFill>
                <a:latin typeface="Arial"/>
                <a:ea typeface="Arial"/>
                <a:cs typeface="Arial"/>
              </a:rPr>
              <a:t>EVIDÊNCIAS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9A9A34-1F25-42CB-9EE1-4A2CEE411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4572000"/>
            <a:ext cx="2190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350" b="0" i="0">
                <a:solidFill>
                  <a:srgbClr val="B5AAA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 i="0">
                <a:solidFill>
                  <a:srgbClr val="B5AAA4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B5AAA4"/>
                </a:solidFill>
                <a:latin typeface="Arial"/>
                <a:ea typeface="Arial"/>
                <a:cs typeface="Arial"/>
              </a:rPr>
              <a:t>Representação</a:t>
            </a:r>
          </a:p>
          <a:p xmlns:a="http://schemas.openxmlformats.org/drawingml/2006/main">
            <a:pPr>
              <a:defRPr sz="1350" b="0" i="0">
                <a:solidFill>
                  <a:srgbClr val="B5AAA4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B5AAA4"/>
                </a:solidFill>
                <a:latin typeface="Arial"/>
                <a:ea typeface="Arial"/>
                <a:cs typeface="Arial"/>
              </a:rPr>
              <a:t>Resultado</a:t>
            </a:r>
          </a:p>
          <a:p xmlns:a="http://schemas.openxmlformats.org/drawingml/2006/main">
            <a:pPr>
              <a:defRPr sz="1350" b="0" i="0">
                <a:solidFill>
                  <a:srgbClr val="B5AAA4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B5AAA4"/>
                </a:solidFill>
                <a:latin typeface="Arial"/>
                <a:ea typeface="Arial"/>
                <a:cs typeface="Arial"/>
              </a:rPr>
              <a:t>Teste</a:t>
            </a:r>
          </a:p>
          <a:p xmlns:a="http://schemas.openxmlformats.org/drawingml/2006/main">
            <a:pPr>
              <a:defRPr sz="1350" b="0" i="0">
                <a:solidFill>
                  <a:srgbClr val="B5AAA4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B5AAA4"/>
                </a:solidFill>
                <a:latin typeface="Arial"/>
                <a:ea typeface="Arial"/>
                <a:cs typeface="Arial"/>
              </a:rPr>
              <a:t>Explicação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20F6997-F451-468A-BBAF-085F4773A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3880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200" b="0" i="0">
                <a:solidFill>
                  <a:srgbClr val="D4A86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 i="0">
                <a:solidFill>
                  <a:srgbClr val="D4A868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D4A868"/>
                </a:solidFill>
                <a:latin typeface="Arial"/>
                <a:ea typeface="Arial"/>
                <a:cs typeface="Arial"/>
              </a:rPr>
              <a:t>A resposta só vale quando os quatro registros concordam.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767BCE3-AEF0-4D9F-8EFD-A2433BDFF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428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>
            <a:defPPr>
              <a:defRPr sz="750" b="1" i="0">
                <a:solidFill>
                  <a:srgbClr val="7E747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750" b="1" i="0">
                <a:solidFill>
                  <a:srgbClr val="7E7471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7E7471"/>
                </a:solidFill>
                <a:latin typeface="Arial"/>
                <a:ea typeface="Arial"/>
                <a:cs typeface="Arial"/>
              </a:rPr>
              <a:t>SETE SELOS DO PARADOXO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751530D-A17E-4834-A001-537A4252C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>
            <a:defPPr>
              <a:defRPr sz="750" b="1" i="0">
                <a:solidFill>
                  <a:srgbClr val="7E747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750" b="1" i="0">
                <a:solidFill>
                  <a:srgbClr val="7E7471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7E7471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732025106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E0D1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FA15AE4-B8A0-4779-9CB7-6FDBFC639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975" b="1" i="0">
                <a:solidFill>
                  <a:srgbClr val="D567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75" b="1" i="0">
                <a:solidFill>
                  <a:srgbClr val="D5673B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D5673B"/>
                </a:solidFill>
                <a:latin typeface="Arial"/>
                <a:ea typeface="Arial"/>
                <a:cs typeface="Arial"/>
              </a:rPr>
              <a:t>SELO 7 · PRINCÍPIOS DE CONTAGEM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5A765E-A6F4-4B21-8924-6738F940A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971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3150" b="1" i="0">
                <a:solidFill>
                  <a:srgbClr val="F4ECE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 i="0">
                <a:solidFill>
                  <a:srgbClr val="F4ECE3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F4ECE3"/>
                </a:solidFill>
                <a:latin typeface="Arial"/>
                <a:ea typeface="Arial"/>
                <a:cs typeface="Arial"/>
              </a:rPr>
              <a:t>Labirinto das Possibilidades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E86D25-43FA-4FC4-B22D-08BB3C92C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71625"/>
            <a:ext cx="7334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275" b="0" i="1">
                <a:solidFill>
                  <a:srgbClr val="B5AAA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 i="1">
                <a:solidFill>
                  <a:srgbClr val="B5AAA4"/>
                </a:solidFill>
                <a:latin typeface="Arial"/>
                <a:ea typeface="Arial"/>
                <a:cs typeface="Arial"/>
              </a:defRPr>
            </a:pPr>
            <a:r>
              <a:rPr sz="1275" b="0" i="1">
                <a:solidFill>
                  <a:srgbClr val="B5AAA4"/>
                </a:solidFill>
                <a:latin typeface="Arial"/>
                <a:ea typeface="Arial"/>
                <a:cs typeface="Arial"/>
              </a:rPr>
              <a:t>Cada escolha multiplica os corredores. Alguns caminhos só podem ser somados.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604BB2-305E-4FCF-B061-C340EC6F9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71700"/>
            <a:ext cx="7239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67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6C6030-4310-436F-9168-DF10C4B2C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7239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950" b="1" i="0">
                <a:solidFill>
                  <a:srgbClr val="F4ECE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1" i="0">
                <a:solidFill>
                  <a:srgbClr val="F4ECE3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F4ECE3"/>
                </a:solidFill>
                <a:latin typeface="Arial"/>
                <a:ea typeface="Arial"/>
                <a:cs typeface="Arial"/>
              </a:rPr>
              <a:t>Resolva quatro contagens e some os resultados.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F96D93-BFF0-4BFD-A412-3E1723EE2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514350"/>
            <a:ext cx="3162300" cy="5314950"/>
          </a:xfrm>
          <a:prstGeom xmlns:a="http://schemas.openxmlformats.org/drawingml/2006/main" prst="roundRect">
            <a:avLst>
              <a:gd name="adj" fmla="val 3614"/>
            </a:avLst>
          </a:prstGeom>
          <a:solidFill xmlns:a="http://schemas.openxmlformats.org/drawingml/2006/main">
            <a:srgbClr val="1B181D"/>
          </a:solidFill>
          <a:ln xmlns:a="http://schemas.openxmlformats.org/drawingml/2006/main" w="9525">
            <a:solidFill>
              <a:srgbClr val="40363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336C12-46E5-4C1E-9532-390C82391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7810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050" b="1" i="0">
                <a:solidFill>
                  <a:srgbClr val="D4A86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1" i="0">
                <a:solidFill>
                  <a:srgbClr val="D4A868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D4A868"/>
                </a:solidFill>
                <a:latin typeface="Arial"/>
                <a:ea typeface="Arial"/>
                <a:cs typeface="Arial"/>
              </a:rPr>
              <a:t>RUNA X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985FBD-2706-4578-85BD-FEC30A7CA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1190625"/>
            <a:ext cx="90487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5400" b="1" i="0">
                <a:solidFill>
                  <a:srgbClr val="D567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5400" b="1" i="0">
                <a:solidFill>
                  <a:srgbClr val="D5673B"/>
                </a:solidFill>
                <a:latin typeface="Arial"/>
                <a:ea typeface="Arial"/>
                <a:cs typeface="Arial"/>
              </a:defRPr>
            </a:pPr>
            <a:r>
              <a:rPr sz="5400" b="1" i="0">
                <a:solidFill>
                  <a:srgbClr val="D5673B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543DA4-279B-4FBF-8A86-E2983E5E1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1504950"/>
            <a:ext cx="114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3333"/>
          </a:bodyPr>
          <a:lstStyle xmlns:a="http://schemas.openxmlformats.org/drawingml/2006/main">
            <a:defPPr>
              <a:defRPr sz="1500" b="1" i="0">
                <a:solidFill>
                  <a:srgbClr val="B5AAA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1" i="0">
                <a:solidFill>
                  <a:srgbClr val="B5AAA4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B5AAA4"/>
                </a:solidFill>
                <a:latin typeface="Arial"/>
                <a:ea typeface="Arial"/>
                <a:cs typeface="Arial"/>
              </a:rPr>
              <a:t>16 min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ACA644-0B8E-4AA5-8C2A-DE36F6B22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400300"/>
            <a:ext cx="25336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275" b="0" i="0">
                <a:solidFill>
                  <a:srgbClr val="F4ECE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 i="0">
                <a:solidFill>
                  <a:srgbClr val="F4ECE3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F4ECE3"/>
                </a:solidFill>
                <a:latin typeface="Arial"/>
                <a:ea typeface="Arial"/>
                <a:cs typeface="Arial"/>
              </a:rPr>
              <a:t>2 rotas ou 3 túneis</a:t>
            </a:r>
          </a:p>
          <a:p xmlns:a="http://schemas.openxmlformats.org/drawingml/2006/main">
            <a:pPr>
              <a:defRPr sz="1275" b="0" i="0">
                <a:solidFill>
                  <a:srgbClr val="F4ECE3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F4ECE3"/>
                </a:solidFill>
                <a:latin typeface="Arial"/>
                <a:ea typeface="Arial"/>
                <a:cs typeface="Arial"/>
              </a:rPr>
              <a:t>3 portas e 4 chaves</a:t>
            </a:r>
          </a:p>
          <a:p xmlns:a="http://schemas.openxmlformats.org/drawingml/2006/main">
            <a:pPr>
              <a:defRPr sz="1275" b="0" i="0">
                <a:solidFill>
                  <a:srgbClr val="F4ECE3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F4ECE3"/>
                </a:solidFill>
                <a:latin typeface="Arial"/>
                <a:ea typeface="Arial"/>
                <a:cs typeface="Arial"/>
              </a:rPr>
              <a:t>Escolha 3 entre 7</a:t>
            </a:r>
          </a:p>
          <a:p xmlns:a="http://schemas.openxmlformats.org/drawingml/2006/main">
            <a:pPr>
              <a:defRPr sz="1275" b="0" i="0">
                <a:solidFill>
                  <a:srgbClr val="F4ECE3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F4ECE3"/>
                </a:solidFill>
                <a:latin typeface="Arial"/>
                <a:ea typeface="Arial"/>
                <a:cs typeface="Arial"/>
              </a:rPr>
              <a:t>Código de 3 dígitos sem repetição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7B941E-A9AC-4DA6-ADBE-1299C58EB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42481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900" b="1" i="0">
                <a:solidFill>
                  <a:srgbClr val="D567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00" b="1" i="0">
                <a:solidFill>
                  <a:srgbClr val="D5673B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D5673B"/>
                </a:solidFill>
                <a:latin typeface="Arial"/>
                <a:ea typeface="Arial"/>
                <a:cs typeface="Arial"/>
              </a:rPr>
              <a:t>EVIDÊNCIAS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B573DCB-9FE1-417C-A076-137DA0D83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4572000"/>
            <a:ext cx="2190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350" b="0" i="0">
                <a:solidFill>
                  <a:srgbClr val="B5AAA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 i="0">
                <a:solidFill>
                  <a:srgbClr val="B5AAA4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B5AAA4"/>
                </a:solidFill>
                <a:latin typeface="Arial"/>
                <a:ea typeface="Arial"/>
                <a:cs typeface="Arial"/>
              </a:rPr>
              <a:t>Representação</a:t>
            </a:r>
          </a:p>
          <a:p xmlns:a="http://schemas.openxmlformats.org/drawingml/2006/main">
            <a:pPr>
              <a:defRPr sz="1350" b="0" i="0">
                <a:solidFill>
                  <a:srgbClr val="B5AAA4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B5AAA4"/>
                </a:solidFill>
                <a:latin typeface="Arial"/>
                <a:ea typeface="Arial"/>
                <a:cs typeface="Arial"/>
              </a:rPr>
              <a:t>Resultado</a:t>
            </a:r>
          </a:p>
          <a:p xmlns:a="http://schemas.openxmlformats.org/drawingml/2006/main">
            <a:pPr>
              <a:defRPr sz="1350" b="0" i="0">
                <a:solidFill>
                  <a:srgbClr val="B5AAA4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B5AAA4"/>
                </a:solidFill>
                <a:latin typeface="Arial"/>
                <a:ea typeface="Arial"/>
                <a:cs typeface="Arial"/>
              </a:rPr>
              <a:t>Teste</a:t>
            </a:r>
          </a:p>
          <a:p xmlns:a="http://schemas.openxmlformats.org/drawingml/2006/main">
            <a:pPr>
              <a:defRPr sz="1350" b="0" i="0">
                <a:solidFill>
                  <a:srgbClr val="B5AAA4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B5AAA4"/>
                </a:solidFill>
                <a:latin typeface="Arial"/>
                <a:ea typeface="Arial"/>
                <a:cs typeface="Arial"/>
              </a:rPr>
              <a:t>Explicação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C2C06C3-28EC-4786-B9BA-439320246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3880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200" b="0" i="0">
                <a:solidFill>
                  <a:srgbClr val="D4A86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 i="0">
                <a:solidFill>
                  <a:srgbClr val="D4A868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D4A868"/>
                </a:solidFill>
                <a:latin typeface="Arial"/>
                <a:ea typeface="Arial"/>
                <a:cs typeface="Arial"/>
              </a:rPr>
              <a:t>A resposta só vale quando os quatro registros concordam.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DB005CD-1740-4C6F-AA0E-B212AFE0F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428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>
            <a:defPPr>
              <a:defRPr sz="750" b="1" i="0">
                <a:solidFill>
                  <a:srgbClr val="7E747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750" b="1" i="0">
                <a:solidFill>
                  <a:srgbClr val="7E7471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7E7471"/>
                </a:solidFill>
                <a:latin typeface="Arial"/>
                <a:ea typeface="Arial"/>
                <a:cs typeface="Arial"/>
              </a:rPr>
              <a:t>SETE SELOS DO PARADOXO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0929803-0BBD-40CD-ABC9-CEBDD0515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>
            <a:defPPr>
              <a:defRPr sz="750" b="1" i="0">
                <a:solidFill>
                  <a:srgbClr val="7E747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750" b="1" i="0">
                <a:solidFill>
                  <a:srgbClr val="7E7471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7E7471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410884802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0E0D1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BD30B3-6621-4D3A-AB88-D5E5FF86A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975" b="1" i="0">
                <a:solidFill>
                  <a:srgbClr val="D567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75" b="1" i="0">
                <a:solidFill>
                  <a:srgbClr val="D5673B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D5673B"/>
                </a:solidFill>
                <a:latin typeface="Arial"/>
                <a:ea typeface="Arial"/>
                <a:cs typeface="Arial"/>
              </a:rPr>
              <a:t>ANOMALIA COLETIVA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CFD76C-E5D3-4B75-A699-652A77220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971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3150" b="1" i="0">
                <a:solidFill>
                  <a:srgbClr val="F4ECE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 i="0">
                <a:solidFill>
                  <a:srgbClr val="F4ECE3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F4ECE3"/>
                </a:solidFill>
                <a:latin typeface="Arial"/>
                <a:ea typeface="Arial"/>
                <a:cs typeface="Arial"/>
              </a:rPr>
              <a:t>A sala perdeu uma premissa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BAAA8F-90E1-4133-A1B6-2583D5B01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8858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4702"/>
          </a:bodyPr>
          <a:lstStyle xmlns:a="http://schemas.openxmlformats.org/drawingml/2006/main">
            <a:defPPr>
              <a:defRPr sz="2100" b="1" i="0">
                <a:solidFill>
                  <a:srgbClr val="F4ECE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1" i="0">
                <a:solidFill>
                  <a:srgbClr val="F4ECE3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F4ECE3"/>
                </a:solidFill>
                <a:latin typeface="Arial"/>
                <a:ea typeface="Arial"/>
                <a:cs typeface="Arial"/>
              </a:rPr>
              <a:t>Durante quatro minutos, cada equipe recebe uma afirmação incompleta.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24EF15-F001-4F12-92FE-A8F09648B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43200"/>
            <a:ext cx="8858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725" b="0" i="0">
                <a:solidFill>
                  <a:srgbClr val="B5AAA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 i="0">
                <a:solidFill>
                  <a:srgbClr val="B5AAA4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B5AAA4"/>
                </a:solidFill>
                <a:latin typeface="Arial"/>
                <a:ea typeface="Arial"/>
                <a:cs typeface="Arial"/>
              </a:rPr>
              <a:t>A equipe precisa escrever uma premissa adicional que torne a conclusão inevitável. O Cético deve tentar quebrar a proposta com um contraexemplo.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BB2070-1C2C-44A2-ACC0-AA34F3607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24350"/>
            <a:ext cx="6858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67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DA4901-46EA-4C84-9573-F47EBFE35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00575"/>
            <a:ext cx="8858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575" b="0" i="0">
                <a:solidFill>
                  <a:srgbClr val="D4A86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75" b="0" i="0">
                <a:solidFill>
                  <a:srgbClr val="D4A868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D4A868"/>
                </a:solidFill>
                <a:latin typeface="Arial"/>
                <a:ea typeface="Arial"/>
                <a:cs typeface="Arial"/>
              </a:rPr>
              <a:t>Validação coletiva: uma premissa clara + um teste que falhe sem ela.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EC45BD-C542-4FD4-BFBE-038FFF0F9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238625"/>
            <a:ext cx="2095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4800" b="1" i="0">
                <a:solidFill>
                  <a:srgbClr val="D567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4800" b="1" i="0">
                <a:solidFill>
                  <a:srgbClr val="D5673B"/>
                </a:solidFill>
                <a:latin typeface="Arial"/>
                <a:ea typeface="Arial"/>
                <a:cs typeface="Arial"/>
              </a:defRPr>
            </a:pPr>
            <a:r>
              <a:rPr sz="4800" b="1" i="0">
                <a:solidFill>
                  <a:srgbClr val="D5673B"/>
                </a:solidFill>
                <a:latin typeface="Arial"/>
                <a:ea typeface="Arial"/>
                <a:cs typeface="Arial"/>
              </a:rPr>
              <a:t>04:00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C8320C-7090-404C-9F14-DF820D9A5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428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>
            <a:defPPr>
              <a:defRPr sz="750" b="1" i="0">
                <a:solidFill>
                  <a:srgbClr val="7E747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750" b="1" i="0">
                <a:solidFill>
                  <a:srgbClr val="7E7471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7E7471"/>
                </a:solidFill>
                <a:latin typeface="Arial"/>
                <a:ea typeface="Arial"/>
                <a:cs typeface="Arial"/>
              </a:rPr>
              <a:t>EVENTO DE SALA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05A495-5503-4C33-88A1-B98BF9B1D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>
            <a:defPPr>
              <a:defRPr sz="750" b="1" i="0">
                <a:solidFill>
                  <a:srgbClr val="7E747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750" b="1" i="0">
                <a:solidFill>
                  <a:srgbClr val="7E7471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7E7471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1426891456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0E0D1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CA09CAB-DF5D-48E0-9B38-555E3F94E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975" b="1" i="0">
                <a:solidFill>
                  <a:srgbClr val="D567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75" b="1" i="0">
                <a:solidFill>
                  <a:srgbClr val="D5673B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D5673B"/>
                </a:solidFill>
                <a:latin typeface="Arial"/>
                <a:ea typeface="Arial"/>
                <a:cs typeface="Arial"/>
              </a:rPr>
              <a:t>CHECKPOINT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616F5A-32A8-4498-9215-658AC0447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971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3150" b="1" i="0">
                <a:solidFill>
                  <a:srgbClr val="F4ECE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 i="0">
                <a:solidFill>
                  <a:srgbClr val="F4ECE3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F4ECE3"/>
                </a:solidFill>
                <a:latin typeface="Arial"/>
                <a:ea typeface="Arial"/>
                <a:cs typeface="Arial"/>
              </a:rPr>
              <a:t>Três runas já deveriam estar visíveis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2552F6-D2B0-472B-8E10-5E2772BE3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381250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8281F"/>
          </a:solidFill>
          <a:ln xmlns:a="http://schemas.openxmlformats.org/drawingml/2006/main" w="19050">
            <a:solidFill>
              <a:srgbClr val="D5673B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875" b="1">
                <a:solidFill>
                  <a:srgbClr val="E89A6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E89A6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E89A60"/>
                </a:solidFill>
                <a:latin typeface="Arial"/>
                <a:ea typeface="Arial"/>
                <a:cs typeface="Arial"/>
              </a:rPr>
              <a:t>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A793E8-6D42-4F64-BEA7-7FCD5E09B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3124200"/>
            <a:ext cx="1181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975" b="1" i="0">
                <a:solidFill>
                  <a:srgbClr val="F4ECE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75" b="1" i="0">
                <a:solidFill>
                  <a:srgbClr val="F4ECE3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4ECE3"/>
                </a:solidFill>
                <a:latin typeface="Arial"/>
                <a:ea typeface="Arial"/>
                <a:cs typeface="Arial"/>
              </a:rPr>
              <a:t>Arquivo Vazio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FE8BE2-EE03-4D09-B57B-05EF4E785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381250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8281F"/>
          </a:solidFill>
          <a:ln xmlns:a="http://schemas.openxmlformats.org/drawingml/2006/main" w="19050">
            <a:solidFill>
              <a:srgbClr val="D5673B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875" b="1">
                <a:solidFill>
                  <a:srgbClr val="E89A6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E89A6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E89A60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134EF9-2DE6-45E6-A8B3-489BBF8AF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124200"/>
            <a:ext cx="1181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4615"/>
          </a:bodyPr>
          <a:lstStyle xmlns:a="http://schemas.openxmlformats.org/drawingml/2006/main">
            <a:defPPr>
              <a:defRPr sz="975" b="1" i="0">
                <a:solidFill>
                  <a:srgbClr val="F4ECE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75" b="1" i="0">
                <a:solidFill>
                  <a:srgbClr val="F4ECE3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4ECE3"/>
                </a:solidFill>
                <a:latin typeface="Arial"/>
                <a:ea typeface="Arial"/>
                <a:cs typeface="Arial"/>
              </a:rPr>
              <a:t>Corredor dos Vínculos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0F56FF-3565-4C14-B0B4-F5CC116A6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381250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8281F"/>
          </a:solidFill>
          <a:ln xmlns:a="http://schemas.openxmlformats.org/drawingml/2006/main" w="19050">
            <a:solidFill>
              <a:srgbClr val="D5673B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875" b="1">
                <a:solidFill>
                  <a:srgbClr val="E89A6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E89A6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E89A60"/>
                </a:solidFill>
                <a:latin typeface="Arial"/>
                <a:ea typeface="Arial"/>
                <a:cs typeface="Arial"/>
              </a:rPr>
              <a:t>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3E0BFD-D2D6-411C-8A24-88A63A290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124200"/>
            <a:ext cx="1181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4615"/>
          </a:bodyPr>
          <a:lstStyle xmlns:a="http://schemas.openxmlformats.org/drawingml/2006/main">
            <a:defPPr>
              <a:defRPr sz="975" b="1" i="0">
                <a:solidFill>
                  <a:srgbClr val="F4ECE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75" b="1" i="0">
                <a:solidFill>
                  <a:srgbClr val="F4ECE3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4ECE3"/>
                </a:solidFill>
                <a:latin typeface="Arial"/>
                <a:ea typeface="Arial"/>
                <a:cs typeface="Arial"/>
              </a:rPr>
              <a:t>Galeria dos Espelhos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3510C7-88F8-4BA0-92EE-B1A3AA103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667250"/>
            <a:ext cx="857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8793"/>
          </a:bodyPr>
          <a:lstStyle xmlns:a="http://schemas.openxmlformats.org/drawingml/2006/main">
            <a:defPPr>
              <a:defRPr sz="1650" b="1" i="0">
                <a:solidFill>
                  <a:srgbClr val="F4ECE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1" i="0">
                <a:solidFill>
                  <a:srgbClr val="F4ECE3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F4ECE3"/>
                </a:solidFill>
                <a:latin typeface="Arial"/>
                <a:ea typeface="Arial"/>
                <a:cs typeface="Arial"/>
              </a:rPr>
              <a:t>Se a equipe ainda não abriu o terceiro selo, este é o momento de usar um fragmento.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C11214-670C-4E6B-8BBA-7D62011F9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5314950"/>
            <a:ext cx="666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350" b="0" i="0">
                <a:solidFill>
                  <a:srgbClr val="D4A86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 i="0">
                <a:solidFill>
                  <a:srgbClr val="D4A868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D4A868"/>
                </a:solidFill>
                <a:latin typeface="Arial"/>
                <a:ea typeface="Arial"/>
                <a:cs typeface="Arial"/>
              </a:rPr>
              <a:t>Pausa técnica de 5 minutos após a conferência do professor.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032A9B0-BF0D-4601-A6EB-9298C5E2D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428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>
            <a:defPPr>
              <a:defRPr sz="750" b="1" i="0">
                <a:solidFill>
                  <a:srgbClr val="7E747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750" b="1" i="0">
                <a:solidFill>
                  <a:srgbClr val="7E7471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7E7471"/>
                </a:solidFill>
                <a:latin typeface="Arial"/>
                <a:ea typeface="Arial"/>
                <a:cs typeface="Arial"/>
              </a:rPr>
              <a:t>O ÚLTIMO AXIOMA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FF1A25-E31C-4FD7-B3FE-21DF2BA29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>
            <a:defPPr>
              <a:defRPr sz="750" b="1" i="0">
                <a:solidFill>
                  <a:srgbClr val="7E747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750" b="1" i="0">
                <a:solidFill>
                  <a:srgbClr val="7E7471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7E7471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1975656560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0E0D1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8DD811-E8AA-47E8-BFA1-CCF24645C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975" b="1" i="0">
                <a:solidFill>
                  <a:srgbClr val="D567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75" b="1" i="0">
                <a:solidFill>
                  <a:srgbClr val="D5673B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D5673B"/>
                </a:solidFill>
                <a:latin typeface="Arial"/>
                <a:ea typeface="Arial"/>
                <a:cs typeface="Arial"/>
              </a:rPr>
              <a:t>ANOMALIA COLETIVA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F04CAF-C2C3-4CCF-A4CD-50C025E3F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971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3150" b="1" i="0">
                <a:solidFill>
                  <a:srgbClr val="F4ECE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 i="0">
                <a:solidFill>
                  <a:srgbClr val="F4ECE3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F4ECE3"/>
                </a:solidFill>
                <a:latin typeface="Arial"/>
                <a:ea typeface="Arial"/>
                <a:cs typeface="Arial"/>
              </a:rPr>
              <a:t>O circuito começou a contar caminhos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BD3F31-373A-4574-A8B3-EA2A60179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71650"/>
            <a:ext cx="9239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8634"/>
          </a:bodyPr>
          <a:lstStyle xmlns:a="http://schemas.openxmlformats.org/drawingml/2006/main">
            <a:defPPr>
              <a:defRPr sz="2100" b="1" i="0">
                <a:solidFill>
                  <a:srgbClr val="F4ECE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1" i="0">
                <a:solidFill>
                  <a:srgbClr val="F4ECE3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F4ECE3"/>
                </a:solidFill>
                <a:latin typeface="Arial"/>
                <a:ea typeface="Arial"/>
                <a:cs typeface="Arial"/>
              </a:rPr>
              <a:t>Uma entrada do circuito pode assumir três estados: 0, 1 ou falha. A outra continua binária.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E92143-C8A5-40F7-9A6E-B5A5B7423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1300"/>
            <a:ext cx="9239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725" b="0" i="0">
                <a:solidFill>
                  <a:srgbClr val="B5AAA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 i="0">
                <a:solidFill>
                  <a:srgbClr val="B5AAA4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B5AAA4"/>
                </a:solidFill>
                <a:latin typeface="Arial"/>
                <a:ea typeface="Arial"/>
                <a:cs typeface="Arial"/>
              </a:rPr>
              <a:t>Quantas combinações de entrada existem? Como a tabela deveria representar o estado de falha sem confundi-lo com 0?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516449-28C5-480E-AFEC-1BB7C5C2A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0"/>
            <a:ext cx="8858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575" b="0" i="0">
                <a:solidFill>
                  <a:srgbClr val="D4A86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75" b="0" i="0">
                <a:solidFill>
                  <a:srgbClr val="D4A868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D4A868"/>
                </a:solidFill>
                <a:latin typeface="Arial"/>
                <a:ea typeface="Arial"/>
                <a:cs typeface="Arial"/>
              </a:rPr>
              <a:t>A resposta precisa usar o princípio multiplicativo e uma convenção explícita de representação.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4F584F-0A47-406C-95AE-A0E0ED064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428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>
            <a:defPPr>
              <a:defRPr sz="750" b="1" i="0">
                <a:solidFill>
                  <a:srgbClr val="7E747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750" b="1" i="0">
                <a:solidFill>
                  <a:srgbClr val="7E7471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7E7471"/>
                </a:solidFill>
                <a:latin typeface="Arial"/>
                <a:ea typeface="Arial"/>
                <a:cs typeface="Arial"/>
              </a:rPr>
              <a:t>EVENTO DE SALA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9F1431-15C9-4881-85CD-AF0A18167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>
            <a:defPPr>
              <a:defRPr sz="750" b="1" i="0">
                <a:solidFill>
                  <a:srgbClr val="7E747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750" b="1" i="0">
                <a:solidFill>
                  <a:srgbClr val="7E7471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7E7471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1656605828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0E0D1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13C156A-7FE9-49B5-8EFA-DF140494B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975" b="1" i="0">
                <a:solidFill>
                  <a:srgbClr val="D567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75" b="1" i="0">
                <a:solidFill>
                  <a:srgbClr val="D5673B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D5673B"/>
                </a:solidFill>
                <a:latin typeface="Arial"/>
                <a:ea typeface="Arial"/>
                <a:cs typeface="Arial"/>
              </a:rPr>
              <a:t>CÂMARA FINAL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F54E73-DEF6-4A8E-9B8C-F10C0AC58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971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3150" b="1" i="0">
                <a:solidFill>
                  <a:srgbClr val="F4ECE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 i="0">
                <a:solidFill>
                  <a:srgbClr val="F4ECE3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F4ECE3"/>
                </a:solidFill>
                <a:latin typeface="Arial"/>
                <a:ea typeface="Arial"/>
                <a:cs typeface="Arial"/>
              </a:rPr>
              <a:t>A chave de contenção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6F9328-ADC4-4FDD-9C38-89618B8F3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133600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8281F"/>
          </a:solidFill>
          <a:ln xmlns:a="http://schemas.openxmlformats.org/drawingml/2006/main" w="19050">
            <a:solidFill>
              <a:srgbClr val="D5673B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875" b="1">
                <a:solidFill>
                  <a:srgbClr val="E89A6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E89A6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E89A60"/>
                </a:solidFill>
                <a:latin typeface="Arial"/>
                <a:ea typeface="Arial"/>
                <a:cs typeface="Arial"/>
              </a:rPr>
              <a:t>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18666C-5777-4DB3-91BC-BC30E05AC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76550"/>
            <a:ext cx="1181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/>
          </a:bodyPr>
          <a:lstStyle xmlns:a="http://schemas.openxmlformats.org/drawingml/2006/main">
            <a:defPPr>
              <a:defRPr sz="975" b="1" i="0">
                <a:solidFill>
                  <a:srgbClr val="F4ECE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12AAA3-3FA2-4EDE-90DF-760CDE9C9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133600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8281F"/>
          </a:solidFill>
          <a:ln xmlns:a="http://schemas.openxmlformats.org/drawingml/2006/main" w="19050">
            <a:solidFill>
              <a:srgbClr val="D5673B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875" b="1">
                <a:solidFill>
                  <a:srgbClr val="E89A6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E89A6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E89A60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867C8C-15B1-4B98-87E9-93E349943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876550"/>
            <a:ext cx="1181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/>
          </a:bodyPr>
          <a:lstStyle xmlns:a="http://schemas.openxmlformats.org/drawingml/2006/main">
            <a:defPPr>
              <a:defRPr sz="975" b="1" i="0">
                <a:solidFill>
                  <a:srgbClr val="F4ECE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36DF15-D383-43B4-8EFC-03E7B6FC4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2133600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8281F"/>
          </a:solidFill>
          <a:ln xmlns:a="http://schemas.openxmlformats.org/drawingml/2006/main" w="19050">
            <a:solidFill>
              <a:srgbClr val="D5673B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875" b="1">
                <a:solidFill>
                  <a:srgbClr val="E89A6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E89A6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E89A60"/>
                </a:solidFill>
                <a:latin typeface="Arial"/>
                <a:ea typeface="Arial"/>
                <a:cs typeface="Arial"/>
              </a:rPr>
              <a:t>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A1017B-A5BE-43AB-8279-8585D3DCD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876550"/>
            <a:ext cx="1181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/>
          </a:bodyPr>
          <a:lstStyle xmlns:a="http://schemas.openxmlformats.org/drawingml/2006/main">
            <a:defPPr>
              <a:defRPr sz="975" b="1" i="0">
                <a:solidFill>
                  <a:srgbClr val="F4ECE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ACF96D-D808-4F32-B54B-A69EED8F7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2133600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8281F"/>
          </a:solidFill>
          <a:ln xmlns:a="http://schemas.openxmlformats.org/drawingml/2006/main" w="19050">
            <a:solidFill>
              <a:srgbClr val="D5673B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875" b="1">
                <a:solidFill>
                  <a:srgbClr val="E89A6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E89A6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E89A60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80E9609-EB30-4E38-B4F0-0F453A2D7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876550"/>
            <a:ext cx="1181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/>
          </a:bodyPr>
          <a:lstStyle xmlns:a="http://schemas.openxmlformats.org/drawingml/2006/main">
            <a:defPPr>
              <a:defRPr sz="975" b="1" i="0">
                <a:solidFill>
                  <a:srgbClr val="F4ECE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D93418C-C3C2-4364-A77A-53B508A7D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133600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8281F"/>
          </a:solidFill>
          <a:ln xmlns:a="http://schemas.openxmlformats.org/drawingml/2006/main" w="19050">
            <a:solidFill>
              <a:srgbClr val="D5673B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875" b="1">
                <a:solidFill>
                  <a:srgbClr val="E89A6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E89A6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E89A60"/>
                </a:solidFill>
                <a:latin typeface="Arial"/>
                <a:ea typeface="Arial"/>
                <a:cs typeface="Arial"/>
              </a:rPr>
              <a:t>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FE59F80-92B4-4DDD-B6B1-22412C3D4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876550"/>
            <a:ext cx="1181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/>
          </a:bodyPr>
          <a:lstStyle xmlns:a="http://schemas.openxmlformats.org/drawingml/2006/main">
            <a:defPPr>
              <a:defRPr sz="975" b="1" i="0">
                <a:solidFill>
                  <a:srgbClr val="F4ECE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4F14910-5326-4DA7-99A0-83B6E296B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133600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8281F"/>
          </a:solidFill>
          <a:ln xmlns:a="http://schemas.openxmlformats.org/drawingml/2006/main" w="19050">
            <a:solidFill>
              <a:srgbClr val="D5673B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875" b="1">
                <a:solidFill>
                  <a:srgbClr val="E89A6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E89A6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E89A60"/>
                </a:solidFill>
                <a:latin typeface="Arial"/>
                <a:ea typeface="Arial"/>
                <a:cs typeface="Arial"/>
              </a:rPr>
              <a:t>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B805F9D-204D-4065-9E07-88F883887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876550"/>
            <a:ext cx="1181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/>
          </a:bodyPr>
          <a:lstStyle xmlns:a="http://schemas.openxmlformats.org/drawingml/2006/main">
            <a:defPPr>
              <a:defRPr sz="975" b="1" i="0">
                <a:solidFill>
                  <a:srgbClr val="F4ECE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252822C-143E-4201-A44C-81C6398FF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2133600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8281F"/>
          </a:solidFill>
          <a:ln xmlns:a="http://schemas.openxmlformats.org/drawingml/2006/main" w="19050">
            <a:solidFill>
              <a:srgbClr val="D5673B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875" b="1">
                <a:solidFill>
                  <a:srgbClr val="E89A6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E89A6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E89A60"/>
                </a:solidFill>
                <a:latin typeface="Arial"/>
                <a:ea typeface="Arial"/>
                <a:cs typeface="Arial"/>
              </a:rPr>
              <a:t>X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72523AB-D18A-41F2-93A8-FDFE7D8E9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876550"/>
            <a:ext cx="1181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/>
          </a:bodyPr>
          <a:lstStyle xmlns:a="http://schemas.openxmlformats.org/drawingml/2006/main">
            <a:defPPr>
              <a:defRPr sz="975" b="1" i="0">
                <a:solidFill>
                  <a:srgbClr val="F4ECE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180F4A2-8D65-4E65-B2FD-DAF6755A5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3380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500" b="1" i="0">
                <a:solidFill>
                  <a:srgbClr val="B5AAA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1" i="0">
                <a:solidFill>
                  <a:srgbClr val="B5AAA4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B5AAA4"/>
                </a:solidFill>
                <a:latin typeface="Arial"/>
                <a:ea typeface="Arial"/>
                <a:cs typeface="Arial"/>
              </a:rPr>
              <a:t>A palavra revelada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11E3B29-F5C4-4AA7-832B-AB7F428F2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733800"/>
            <a:ext cx="4095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2500"/>
          </a:bodyPr>
          <a:lstStyle xmlns:a="http://schemas.openxmlformats.org/drawingml/2006/main">
            <a:defPPr>
              <a:defRPr sz="1500" b="1" i="0">
                <a:solidFill>
                  <a:srgbClr val="B5AAA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1" i="0">
                <a:solidFill>
                  <a:srgbClr val="B5AAA4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B5AAA4"/>
                </a:solidFill>
                <a:latin typeface="Arial"/>
                <a:ea typeface="Arial"/>
                <a:cs typeface="Arial"/>
              </a:rPr>
              <a:t>Número de configurações dos sete selos binários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D903050-DC22-4C00-84E7-216CCD48C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733800"/>
            <a:ext cx="3143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500" b="1" i="0">
                <a:solidFill>
                  <a:srgbClr val="B5AAA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1" i="0">
                <a:solidFill>
                  <a:srgbClr val="B5AAA4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B5AAA4"/>
                </a:solidFill>
                <a:latin typeface="Arial"/>
                <a:ea typeface="Arial"/>
                <a:cs typeface="Arial"/>
              </a:rPr>
              <a:t>Configurações que satisfazem todos os selos simultaneamente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4CDAE66-FE5E-42BC-9738-9AC7659D2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219700"/>
            <a:ext cx="561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2325" b="1" i="0">
                <a:solidFill>
                  <a:srgbClr val="D4A86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325" b="1" i="0">
                <a:solidFill>
                  <a:srgbClr val="D4A868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D4A868"/>
                </a:solidFill>
                <a:latin typeface="Arial"/>
                <a:ea typeface="Arial"/>
                <a:cs typeface="Arial"/>
              </a:rPr>
              <a:t>FORMATO: PALAVRA-000-0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A5630C6-A438-46BF-ADE4-229ECAA21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428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>
            <a:defPPr>
              <a:defRPr sz="750" b="1" i="0">
                <a:solidFill>
                  <a:srgbClr val="7E747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750" b="1" i="0">
                <a:solidFill>
                  <a:srgbClr val="7E7471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7E7471"/>
                </a:solidFill>
                <a:latin typeface="Arial"/>
                <a:ea typeface="Arial"/>
                <a:cs typeface="Arial"/>
              </a:rPr>
              <a:t>O ÚLTIMO AXIOMA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4CE6E86-54C8-4D00-BEAB-1014F64D4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>
            <a:defPPr>
              <a:defRPr sz="750" b="1" i="0">
                <a:solidFill>
                  <a:srgbClr val="7E747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750" b="1" i="0">
                <a:solidFill>
                  <a:srgbClr val="7E7471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7E7471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1695738596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0E0D1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811FCA-FCF1-4FAB-A923-73C1FCEB6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975" b="1" i="0">
                <a:solidFill>
                  <a:srgbClr val="D567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75" b="1" i="0">
                <a:solidFill>
                  <a:srgbClr val="D5673B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D5673B"/>
                </a:solidFill>
                <a:latin typeface="Arial"/>
                <a:ea typeface="Arial"/>
                <a:cs typeface="Arial"/>
              </a:rPr>
              <a:t>CONTAGEM REGRESSIVA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64A734-8856-4E6B-8E20-504416464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971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3150" b="1" i="0">
                <a:solidFill>
                  <a:srgbClr val="F4ECE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 i="0">
                <a:solidFill>
                  <a:srgbClr val="F4ECE3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F4ECE3"/>
                </a:solidFill>
                <a:latin typeface="Arial"/>
                <a:ea typeface="Arial"/>
                <a:cs typeface="Arial"/>
              </a:rPr>
              <a:t>Últimos dez minutos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31B82E-89BA-4427-BE91-6770E2ACB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4762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9000" b="1" i="0">
                <a:solidFill>
                  <a:srgbClr val="D567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000" b="1" i="0">
                <a:solidFill>
                  <a:srgbClr val="D5673B"/>
                </a:solidFill>
                <a:latin typeface="Arial"/>
                <a:ea typeface="Arial"/>
                <a:cs typeface="Arial"/>
              </a:defRPr>
            </a:pPr>
            <a:r>
              <a:rPr sz="9000" b="1" i="0">
                <a:solidFill>
                  <a:srgbClr val="D5673B"/>
                </a:solidFill>
                <a:latin typeface="Arial"/>
                <a:ea typeface="Arial"/>
                <a:cs typeface="Arial"/>
              </a:rPr>
              <a:t>10:00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E2B160-CEED-4DDC-8882-9876D0A9F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857375"/>
            <a:ext cx="409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4667"/>
          </a:bodyPr>
          <a:lstStyle xmlns:a="http://schemas.openxmlformats.org/drawingml/2006/main">
            <a:defPPr>
              <a:defRPr sz="1875" b="1" i="0">
                <a:solidFill>
                  <a:srgbClr val="F4ECE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1" i="0">
                <a:solidFill>
                  <a:srgbClr val="F4ECE3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F4ECE3"/>
                </a:solidFill>
                <a:latin typeface="Arial"/>
                <a:ea typeface="Arial"/>
                <a:cs typeface="Arial"/>
              </a:rPr>
              <a:t>A equipe deve escolher agora: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012B4E-2164-4330-A4A5-D15E402F9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524125"/>
            <a:ext cx="4095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2025" b="0" i="0">
                <a:solidFill>
                  <a:srgbClr val="B5AAA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 i="0">
                <a:solidFill>
                  <a:srgbClr val="B5AAA4"/>
                </a:solidFill>
                <a:latin typeface="Arial"/>
                <a:ea typeface="Arial"/>
                <a:cs typeface="Arial"/>
              </a:defRPr>
            </a:pPr>
            <a:r>
              <a:rPr sz="2025" b="0" i="0">
                <a:solidFill>
                  <a:srgbClr val="B5AAA4"/>
                </a:solidFill>
                <a:latin typeface="Arial"/>
                <a:ea typeface="Arial"/>
                <a:cs typeface="Arial"/>
              </a:rPr>
              <a:t>Continuar investigando</a:t>
            </a:r>
          </a:p>
          <a:p xmlns:a="http://schemas.openxmlformats.org/drawingml/2006/main">
            <a:pPr>
              <a:defRPr sz="2025" b="0" i="0">
                <a:solidFill>
                  <a:srgbClr val="B5AAA4"/>
                </a:solidFill>
                <a:latin typeface="Arial"/>
                <a:ea typeface="Arial"/>
                <a:cs typeface="Arial"/>
              </a:defRPr>
            </a:pPr>
            <a:r>
              <a:rPr sz="2025" b="0" i="0">
                <a:solidFill>
                  <a:srgbClr val="B5AAA4"/>
                </a:solidFill>
                <a:latin typeface="Arial"/>
                <a:ea typeface="Arial"/>
                <a:cs typeface="Arial"/>
              </a:rPr>
              <a:t>Abrir a pista do selo atual</a:t>
            </a:r>
          </a:p>
          <a:p xmlns:a="http://schemas.openxmlformats.org/drawingml/2006/main">
            <a:pPr>
              <a:defRPr sz="2025" b="0" i="0">
                <a:solidFill>
                  <a:srgbClr val="B5AAA4"/>
                </a:solidFill>
                <a:latin typeface="Arial"/>
                <a:ea typeface="Arial"/>
                <a:cs typeface="Arial"/>
              </a:defRPr>
            </a:pPr>
            <a:r>
              <a:rPr sz="2025" b="0" i="0">
                <a:solidFill>
                  <a:srgbClr val="B5AAA4"/>
                </a:solidFill>
                <a:latin typeface="Arial"/>
                <a:ea typeface="Arial"/>
                <a:cs typeface="Arial"/>
              </a:rPr>
              <a:t>Submeter a chave final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6AD123-F9EA-4F5E-A8DE-DAACE272B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762500"/>
            <a:ext cx="4000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425" b="0" i="0">
                <a:solidFill>
                  <a:srgbClr val="D4A86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 b="0" i="0">
                <a:solidFill>
                  <a:srgbClr val="D4A868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D4A868"/>
                </a:solidFill>
                <a:latin typeface="Arial"/>
                <a:ea typeface="Arial"/>
                <a:cs typeface="Arial"/>
              </a:rPr>
              <a:t>Nenhum fragmento vale depois que o tempo termina.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3C8C49-F437-44F7-8B1C-8C2B26242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428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>
            <a:defPPr>
              <a:defRPr sz="750" b="1" i="0">
                <a:solidFill>
                  <a:srgbClr val="7E747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750" b="1" i="0">
                <a:solidFill>
                  <a:srgbClr val="7E7471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7E7471"/>
                </a:solidFill>
                <a:latin typeface="Arial"/>
                <a:ea typeface="Arial"/>
                <a:cs typeface="Arial"/>
              </a:rPr>
              <a:t>O ÚLTIMO AXIOMA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9ACEC5-E02E-4397-B8B5-011A24C16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>
            <a:defPPr>
              <a:defRPr sz="750" b="1" i="0">
                <a:solidFill>
                  <a:srgbClr val="7E747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750" b="1" i="0">
                <a:solidFill>
                  <a:srgbClr val="7E7471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7E7471"/>
                </a:solidFill>
                <a:latin typeface="Arial"/>
                <a:ea typeface="Arial"/>
                <a:cs typeface="Arial"/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1605615791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0E0D1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497D79-2150-49C5-BD53-E0844F35B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975" b="1" i="0">
                <a:solidFill>
                  <a:srgbClr val="D567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75" b="1" i="0">
                <a:solidFill>
                  <a:srgbClr val="D5673B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D5673B"/>
                </a:solidFill>
                <a:latin typeface="Arial"/>
                <a:ea typeface="Arial"/>
                <a:cs typeface="Arial"/>
              </a:rPr>
              <a:t>CONTENÇÃO CONCLUÍDA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20FC59-D81D-4F56-A454-5D1B01E6F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971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3150" b="1" i="0">
                <a:solidFill>
                  <a:srgbClr val="F4ECE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 i="0">
                <a:solidFill>
                  <a:srgbClr val="F4ECE3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F4ECE3"/>
                </a:solidFill>
                <a:latin typeface="Arial"/>
                <a:ea typeface="Arial"/>
                <a:cs typeface="Arial"/>
              </a:rPr>
              <a:t>A porta voltou a obedecer à lógica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C02EA0-092E-47C1-A32B-E584298C0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05000"/>
            <a:ext cx="9906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2250" b="1" i="0">
                <a:solidFill>
                  <a:srgbClr val="F4ECE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1" i="0">
                <a:solidFill>
                  <a:srgbClr val="F4ECE3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F4ECE3"/>
                </a:solidFill>
                <a:latin typeface="Arial"/>
                <a:ea typeface="Arial"/>
                <a:cs typeface="Arial"/>
              </a:rPr>
              <a:t>As sete runas formaram uma palavra. As 128 configurações foram reduzidas a uma única conjunção verdadeira.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21301E-B901-45C8-BE48-6623B4692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0"/>
            <a:ext cx="9906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4500" b="1" i="0">
                <a:solidFill>
                  <a:srgbClr val="8BC99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4500" b="1" i="0">
                <a:solidFill>
                  <a:srgbClr val="8BC99D"/>
                </a:solidFill>
                <a:latin typeface="Arial"/>
                <a:ea typeface="Arial"/>
                <a:cs typeface="Arial"/>
              </a:defRPr>
            </a:pPr>
            <a:r>
              <a:rPr sz="4500" b="1" i="0">
                <a:solidFill>
                  <a:srgbClr val="8BC99D"/>
                </a:solidFill>
                <a:latin typeface="Arial"/>
                <a:ea typeface="Arial"/>
                <a:cs typeface="Arial"/>
              </a:rPr>
              <a:t>PARADOX · 128 · 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575719-C0D3-4E5B-8F50-1078026B7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19650"/>
            <a:ext cx="704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575" b="0" i="0">
                <a:solidFill>
                  <a:srgbClr val="B5AAA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75" b="0" i="0">
                <a:solidFill>
                  <a:srgbClr val="B5AAA4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B5AAA4"/>
                </a:solidFill>
                <a:latin typeface="Arial"/>
                <a:ea typeface="Arial"/>
                <a:cs typeface="Arial"/>
              </a:rPr>
              <a:t>Registrem a pontuação e aguardem o debrief.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6745B9-59D2-4716-AC6D-1DF2A16BE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428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>
            <a:defPPr>
              <a:defRPr sz="750" b="1" i="0">
                <a:solidFill>
                  <a:srgbClr val="7E747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750" b="1" i="0">
                <a:solidFill>
                  <a:srgbClr val="7E7471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7E7471"/>
                </a:solidFill>
                <a:latin typeface="Arial"/>
                <a:ea typeface="Arial"/>
                <a:cs typeface="Arial"/>
              </a:rPr>
              <a:t>O ÚLTIMO AXIOMA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B0B960-C6C8-4183-97D9-1DCD5B78A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>
            <a:defPPr>
              <a:defRPr sz="750" b="1" i="0">
                <a:solidFill>
                  <a:srgbClr val="7E747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750" b="1" i="0">
                <a:solidFill>
                  <a:srgbClr val="7E7471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7E7471"/>
                </a:solidFill>
                <a:latin typeface="Arial"/>
                <a:ea typeface="Arial"/>
                <a:cs typeface="Arial"/>
              </a:rPr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513237832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0E0D1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3BBA78F-5883-4276-85EB-5C95AF9AB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975" b="1" i="0">
                <a:solidFill>
                  <a:srgbClr val="D567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75" b="1" i="0">
                <a:solidFill>
                  <a:srgbClr val="D5673B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D5673B"/>
                </a:solidFill>
                <a:latin typeface="Arial"/>
                <a:ea typeface="Arial"/>
                <a:cs typeface="Arial"/>
              </a:rPr>
              <a:t>DEBRIEF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5573B6-9D63-4241-B3E2-35BAF6A06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971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3150" b="1" i="0">
                <a:solidFill>
                  <a:srgbClr val="F4ECE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 i="0">
                <a:solidFill>
                  <a:srgbClr val="F4ECE3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F4ECE3"/>
                </a:solidFill>
                <a:latin typeface="Arial"/>
                <a:ea typeface="Arial"/>
                <a:cs typeface="Arial"/>
              </a:rPr>
              <a:t>O que convenceu a equipe?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0F9F82-7BC8-46E9-BCBF-7190FE660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66900"/>
            <a:ext cx="381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67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AF71B8-F452-4D0A-9DB2-56EAFA9D5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66900"/>
            <a:ext cx="4591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>
            <a:defPPr>
              <a:defRPr sz="1350" b="1" i="0">
                <a:solidFill>
                  <a:srgbClr val="F4ECE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1" i="0">
                <a:solidFill>
                  <a:srgbClr val="F4ECE3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4ECE3"/>
                </a:solidFill>
                <a:latin typeface="Arial"/>
                <a:ea typeface="Arial"/>
                <a:cs typeface="Arial"/>
              </a:rPr>
              <a:t>Evidência decisiva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9C6FBF-175C-46B4-83E7-7CAB86148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90750"/>
            <a:ext cx="45910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125" b="0" i="0">
                <a:solidFill>
                  <a:srgbClr val="B5AAA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0" i="0">
                <a:solidFill>
                  <a:srgbClr val="B5AAA4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B5AAA4"/>
                </a:solidFill>
                <a:latin typeface="Arial"/>
                <a:ea typeface="Arial"/>
                <a:cs typeface="Arial"/>
              </a:rPr>
              <a:t>Qual registro eliminou a maior dúvida?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486BE8-7850-411C-80FA-D6662FDA8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0"/>
            <a:ext cx="381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A8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BF7214-09BD-421D-A82B-A8CEE7E06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38500"/>
            <a:ext cx="4591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>
            <a:defPPr>
              <a:defRPr sz="1350" b="1" i="0">
                <a:solidFill>
                  <a:srgbClr val="F4ECE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1" i="0">
                <a:solidFill>
                  <a:srgbClr val="F4ECE3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4ECE3"/>
                </a:solidFill>
                <a:latin typeface="Arial"/>
                <a:ea typeface="Arial"/>
                <a:cs typeface="Arial"/>
              </a:rPr>
              <a:t>Erro produtivo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E0F93D-F8C3-42A3-B116-8C14B8521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62350"/>
            <a:ext cx="45910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125" b="0" i="0">
                <a:solidFill>
                  <a:srgbClr val="B5AAA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0" i="0">
                <a:solidFill>
                  <a:srgbClr val="B5AAA4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B5AAA4"/>
                </a:solidFill>
                <a:latin typeface="Arial"/>
                <a:ea typeface="Arial"/>
                <a:cs typeface="Arial"/>
              </a:rPr>
              <a:t>Qual tentativa incorreta mudou o caminho da equipe?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13D44A5-714C-45B6-AC08-337DEABB1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10100"/>
            <a:ext cx="381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9BFC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FC555B-3B9C-46CE-AAE1-87AEF985B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10100"/>
            <a:ext cx="4591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>
            <a:defPPr>
              <a:defRPr sz="1350" b="1" i="0">
                <a:solidFill>
                  <a:srgbClr val="F4ECE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1" i="0">
                <a:solidFill>
                  <a:srgbClr val="F4ECE3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4ECE3"/>
                </a:solidFill>
                <a:latin typeface="Arial"/>
                <a:ea typeface="Arial"/>
                <a:cs typeface="Arial"/>
              </a:rPr>
              <a:t>Conexão entre temas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C18E1D-1B82-4C3E-82EA-CB4412732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933950"/>
            <a:ext cx="45910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125" b="0" i="0">
                <a:solidFill>
                  <a:srgbClr val="B5AAA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0" i="0">
                <a:solidFill>
                  <a:srgbClr val="B5AAA4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B5AAA4"/>
                </a:solidFill>
                <a:latin typeface="Arial"/>
                <a:ea typeface="Arial"/>
                <a:cs typeface="Arial"/>
              </a:rPr>
              <a:t>Onde dois estúdios apareceram no mesmo raciocínio?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119D3CD-51A2-4329-82E1-D7774F3A4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943100"/>
            <a:ext cx="1714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>
            <a:defPPr>
              <a:defRPr sz="7200" b="1" i="0">
                <a:solidFill>
                  <a:srgbClr val="D567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7200" b="1" i="0">
                <a:solidFill>
                  <a:srgbClr val="D5673B"/>
                </a:solidFill>
                <a:latin typeface="Arial"/>
                <a:ea typeface="Arial"/>
                <a:cs typeface="Arial"/>
              </a:defRPr>
            </a:pPr>
            <a:r>
              <a:rPr sz="7200" b="1" i="0">
                <a:solidFill>
                  <a:srgbClr val="D5673B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40DAC49-EEDE-4B75-A95F-9C898E2C4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14325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725" b="0" i="0">
                <a:solidFill>
                  <a:srgbClr val="B5AAA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 i="0">
                <a:solidFill>
                  <a:srgbClr val="B5AAA4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B5AAA4"/>
                </a:solidFill>
                <a:latin typeface="Arial"/>
                <a:ea typeface="Arial"/>
                <a:cs typeface="Arial"/>
              </a:rPr>
              <a:t>minutos por equipe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A4338B8-0131-41C3-A868-AE142E428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210050"/>
            <a:ext cx="3429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950" b="1" i="0">
                <a:solidFill>
                  <a:srgbClr val="F4ECE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1" i="0">
                <a:solidFill>
                  <a:srgbClr val="F4ECE3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F4ECE3"/>
                </a:solidFill>
                <a:latin typeface="Arial"/>
                <a:ea typeface="Arial"/>
                <a:cs typeface="Arial"/>
              </a:rPr>
              <a:t>Uma resposta curta. Uma evidência concreta.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FD84FEC-D801-4057-9EC6-7422B60A1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428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>
            <a:defPPr>
              <a:defRPr sz="750" b="1" i="0">
                <a:solidFill>
                  <a:srgbClr val="7E747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750" b="1" i="0">
                <a:solidFill>
                  <a:srgbClr val="7E7471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7E7471"/>
                </a:solidFill>
                <a:latin typeface="Arial"/>
                <a:ea typeface="Arial"/>
                <a:cs typeface="Arial"/>
              </a:rPr>
              <a:t>O ÚLTIMO AXIOMA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04E6B90-FBF2-4D7C-BA60-1D7066EA6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>
            <a:defPPr>
              <a:defRPr sz="750" b="1" i="0">
                <a:solidFill>
                  <a:srgbClr val="7E747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750" b="1" i="0">
                <a:solidFill>
                  <a:srgbClr val="7E7471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7E7471"/>
                </a:solidFill>
                <a:latin typeface="Arial"/>
                <a:ea typeface="Arial"/>
                <a:cs typeface="Arial"/>
              </a:rPr>
              <a:t>23</a:t>
            </a:r>
          </a:p>
        </p:txBody>
      </p:sp>
    </p:spTree>
    <p:extLst>
      <p:ext uri="{BB962C8B-B14F-4D97-AF65-F5344CB8AC3E}">
        <p14:creationId xmlns:p14="http://schemas.microsoft.com/office/powerpoint/2010/main" val="1473168685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0E0D1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CD66A1B-F2E0-4B87-9F53-7C39D747C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975" b="1" i="0">
                <a:solidFill>
                  <a:srgbClr val="D567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75" b="1" i="0">
                <a:solidFill>
                  <a:srgbClr val="D5673B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D5673B"/>
                </a:solidFill>
                <a:latin typeface="Arial"/>
                <a:ea typeface="Arial"/>
                <a:cs typeface="Arial"/>
              </a:rPr>
              <a:t>RECONHECIMENTOS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2E6FF5-730A-45BD-85BA-9FD7370EE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971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3150" b="1" i="0">
                <a:solidFill>
                  <a:srgbClr val="F4ECE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 i="0">
                <a:solidFill>
                  <a:srgbClr val="F4ECE3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F4ECE3"/>
                </a:solidFill>
                <a:latin typeface="Arial"/>
                <a:ea typeface="Arial"/>
                <a:cs typeface="Arial"/>
              </a:rPr>
              <a:t>Marcas da expedição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CCD35D-2D22-4BA1-A83C-FB07B4676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2325" b="0" i="0">
                <a:solidFill>
                  <a:srgbClr val="D4A86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325" b="0" i="0">
                <a:solidFill>
                  <a:srgbClr val="D4A868"/>
                </a:solidFill>
                <a:latin typeface="Arial"/>
                <a:ea typeface="Arial"/>
                <a:cs typeface="Arial"/>
              </a:defRPr>
            </a:pPr>
            <a:r>
              <a:rPr sz="2325" b="0" i="0">
                <a:solidFill>
                  <a:srgbClr val="D4A868"/>
                </a:solidFill>
                <a:latin typeface="Arial"/>
                <a:ea typeface="Arial"/>
                <a:cs typeface="Arial"/>
              </a:rPr>
              <a:t>✦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9F0D9E-8BF9-45DB-8ECE-62BE86244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1857375"/>
            <a:ext cx="409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8889"/>
          </a:bodyPr>
          <a:lstStyle xmlns:a="http://schemas.openxmlformats.org/drawingml/2006/main">
            <a:defPPr>
              <a:defRPr sz="1575" b="1" i="0">
                <a:solidFill>
                  <a:srgbClr val="F4ECE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75" b="1" i="0">
                <a:solidFill>
                  <a:srgbClr val="F4ECE3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F4ECE3"/>
                </a:solidFill>
                <a:latin typeface="Arial"/>
                <a:ea typeface="Arial"/>
                <a:cs typeface="Arial"/>
              </a:rPr>
              <a:t>MAIOR PONTUAÇÃO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B6EC65-3D66-452F-AAF4-785CCEA4C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286000"/>
            <a:ext cx="4095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275" b="0" i="0">
                <a:solidFill>
                  <a:srgbClr val="B5AAA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 i="0">
                <a:solidFill>
                  <a:srgbClr val="B5AAA4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B5AAA4"/>
                </a:solidFill>
                <a:latin typeface="Arial"/>
                <a:ea typeface="Arial"/>
                <a:cs typeface="Arial"/>
              </a:rPr>
              <a:t>Domínio dos sete selos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892217-2BD1-4ADD-814E-63A792DF5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924175"/>
            <a:ext cx="400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036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39C0A1-DAB5-4110-863A-89790E87A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857375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2325" b="0" i="0">
                <a:solidFill>
                  <a:srgbClr val="D4A86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325" b="0" i="0">
                <a:solidFill>
                  <a:srgbClr val="D4A868"/>
                </a:solidFill>
                <a:latin typeface="Arial"/>
                <a:ea typeface="Arial"/>
                <a:cs typeface="Arial"/>
              </a:defRPr>
            </a:pPr>
            <a:r>
              <a:rPr sz="2325" b="0" i="0">
                <a:solidFill>
                  <a:srgbClr val="D4A868"/>
                </a:solidFill>
                <a:latin typeface="Arial"/>
                <a:ea typeface="Arial"/>
                <a:cs typeface="Arial"/>
              </a:rPr>
              <a:t>✦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099860-FEED-4EF3-8946-ED7089B03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1857375"/>
            <a:ext cx="409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8889"/>
          </a:bodyPr>
          <a:lstStyle xmlns:a="http://schemas.openxmlformats.org/drawingml/2006/main">
            <a:defPPr>
              <a:defRPr sz="1575" b="1" i="0">
                <a:solidFill>
                  <a:srgbClr val="F4ECE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75" b="1" i="0">
                <a:solidFill>
                  <a:srgbClr val="F4ECE3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F4ECE3"/>
                </a:solidFill>
                <a:latin typeface="Arial"/>
                <a:ea typeface="Arial"/>
                <a:cs typeface="Arial"/>
              </a:rPr>
              <a:t>MELHOR CONTRAEXEMPLO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5F7D56-31EA-41CD-AB75-0D4B6734A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286000"/>
            <a:ext cx="4095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275" b="0" i="0">
                <a:solidFill>
                  <a:srgbClr val="B5AAA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 i="0">
                <a:solidFill>
                  <a:srgbClr val="B5AAA4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B5AAA4"/>
                </a:solidFill>
                <a:latin typeface="Arial"/>
                <a:ea typeface="Arial"/>
                <a:cs typeface="Arial"/>
              </a:rPr>
              <a:t>O teste que evitou um erro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9A20355-C57A-4AEB-85A9-497CC5B4B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924175"/>
            <a:ext cx="400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036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B241EB-9230-4C84-A122-286A795EA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71875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2325" b="0" i="0">
                <a:solidFill>
                  <a:srgbClr val="D4A86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325" b="0" i="0">
                <a:solidFill>
                  <a:srgbClr val="D4A868"/>
                </a:solidFill>
                <a:latin typeface="Arial"/>
                <a:ea typeface="Arial"/>
                <a:cs typeface="Arial"/>
              </a:defRPr>
            </a:pPr>
            <a:r>
              <a:rPr sz="2325" b="0" i="0">
                <a:solidFill>
                  <a:srgbClr val="D4A868"/>
                </a:solidFill>
                <a:latin typeface="Arial"/>
                <a:ea typeface="Arial"/>
                <a:cs typeface="Arial"/>
              </a:rPr>
              <a:t>✦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78B1872-0FD9-4105-9577-426893FBF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571875"/>
            <a:ext cx="409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8889"/>
          </a:bodyPr>
          <a:lstStyle xmlns:a="http://schemas.openxmlformats.org/drawingml/2006/main">
            <a:defPPr>
              <a:defRPr sz="1575" b="1" i="0">
                <a:solidFill>
                  <a:srgbClr val="F4ECE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75" b="1" i="0">
                <a:solidFill>
                  <a:srgbClr val="F4ECE3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F4ECE3"/>
                </a:solidFill>
                <a:latin typeface="Arial"/>
                <a:ea typeface="Arial"/>
                <a:cs typeface="Arial"/>
              </a:rPr>
              <a:t>MELHOR EVIDÊNCIA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03286F0-322F-40E9-B77A-4CE8AAE4D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000500"/>
            <a:ext cx="4095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275" b="0" i="0">
                <a:solidFill>
                  <a:srgbClr val="B5AAA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 i="0">
                <a:solidFill>
                  <a:srgbClr val="B5AAA4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B5AAA4"/>
                </a:solidFill>
                <a:latin typeface="Arial"/>
                <a:ea typeface="Arial"/>
                <a:cs typeface="Arial"/>
              </a:rPr>
              <a:t>Clareza entre representação e explicação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954C5E1-DA04-48AF-9F2C-85BDA9A09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638675"/>
            <a:ext cx="400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036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3FD7357-E18B-4BDC-89F5-CABF17074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571875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2325" b="0" i="0">
                <a:solidFill>
                  <a:srgbClr val="D4A86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325" b="0" i="0">
                <a:solidFill>
                  <a:srgbClr val="D4A868"/>
                </a:solidFill>
                <a:latin typeface="Arial"/>
                <a:ea typeface="Arial"/>
                <a:cs typeface="Arial"/>
              </a:defRPr>
            </a:pPr>
            <a:r>
              <a:rPr sz="2325" b="0" i="0">
                <a:solidFill>
                  <a:srgbClr val="D4A868"/>
                </a:solidFill>
                <a:latin typeface="Arial"/>
                <a:ea typeface="Arial"/>
                <a:cs typeface="Arial"/>
              </a:rPr>
              <a:t>✦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0108041-E979-46B8-B91B-96AE6120F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571875"/>
            <a:ext cx="409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8889"/>
          </a:bodyPr>
          <a:lstStyle xmlns:a="http://schemas.openxmlformats.org/drawingml/2006/main">
            <a:defPPr>
              <a:defRPr sz="1575" b="1" i="0">
                <a:solidFill>
                  <a:srgbClr val="F4ECE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75" b="1" i="0">
                <a:solidFill>
                  <a:srgbClr val="F4ECE3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F4ECE3"/>
                </a:solidFill>
                <a:latin typeface="Arial"/>
                <a:ea typeface="Arial"/>
                <a:cs typeface="Arial"/>
              </a:rPr>
              <a:t>COOPERAÇÃO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0D73859-2DB2-4E3F-B49C-399B6BBFE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000500"/>
            <a:ext cx="4095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275" b="0" i="0">
                <a:solidFill>
                  <a:srgbClr val="B5AAA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 i="0">
                <a:solidFill>
                  <a:srgbClr val="B5AAA4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B5AAA4"/>
                </a:solidFill>
                <a:latin typeface="Arial"/>
                <a:ea typeface="Arial"/>
                <a:cs typeface="Arial"/>
              </a:rPr>
              <a:t>Responsabilidades bem distribuídas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FAE4431-D91A-4A20-B47D-2FF45388B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638675"/>
            <a:ext cx="400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036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4FCE025-D64B-4F0D-9DCD-DF02A12A0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428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>
            <a:defPPr>
              <a:defRPr sz="750" b="1" i="0">
                <a:solidFill>
                  <a:srgbClr val="7E747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750" b="1" i="0">
                <a:solidFill>
                  <a:srgbClr val="7E7471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7E7471"/>
                </a:solidFill>
                <a:latin typeface="Arial"/>
                <a:ea typeface="Arial"/>
                <a:cs typeface="Arial"/>
              </a:rPr>
              <a:t>O ÚLTIMO AXIOMA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A521DA0-5DA5-470C-9798-6B2CCCA8D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>
            <a:defPPr>
              <a:defRPr sz="750" b="1" i="0">
                <a:solidFill>
                  <a:srgbClr val="7E747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750" b="1" i="0">
                <a:solidFill>
                  <a:srgbClr val="7E7471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7E7471"/>
                </a:solidFill>
                <a:latin typeface="Arial"/>
                <a:ea typeface="Arial"/>
                <a:cs typeface="Arial"/>
              </a:rPr>
              <a:t>24</a:t>
            </a:r>
          </a:p>
        </p:txBody>
      </p:sp>
    </p:spTree>
    <p:extLst>
      <p:ext uri="{BB962C8B-B14F-4D97-AF65-F5344CB8AC3E}">
        <p14:creationId xmlns:p14="http://schemas.microsoft.com/office/powerpoint/2010/main" val="1766858559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0E0D1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7BEA5F-5CC6-4068-9251-2A72A6808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975" b="1" i="0">
                <a:solidFill>
                  <a:srgbClr val="D567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75" b="1" i="0">
                <a:solidFill>
                  <a:srgbClr val="D5673B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D5673B"/>
                </a:solidFill>
                <a:latin typeface="Arial"/>
                <a:ea typeface="Arial"/>
                <a:cs typeface="Arial"/>
              </a:rPr>
              <a:t>FIM DA PROJEÇÃO PÚBLICA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F4F60D-9D7D-49D5-AD92-48431DBF3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971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3150" b="1" i="0">
                <a:solidFill>
                  <a:srgbClr val="F4ECE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 i="0">
                <a:solidFill>
                  <a:srgbClr val="F4ECE3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F4ECE3"/>
                </a:solidFill>
                <a:latin typeface="Arial"/>
                <a:ea typeface="Arial"/>
                <a:cs typeface="Arial"/>
              </a:rPr>
              <a:t>Apêndice reservado ao professor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C341D6-D470-4F7D-A71C-565BBB407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8953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2325" b="1" i="0">
                <a:solidFill>
                  <a:srgbClr val="F4ECE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325" b="1" i="0">
                <a:solidFill>
                  <a:srgbClr val="F4ECE3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F4ECE3"/>
                </a:solidFill>
                <a:latin typeface="Arial"/>
                <a:ea typeface="Arial"/>
                <a:cs typeface="Arial"/>
              </a:rPr>
              <a:t>As próximas lâminas contêm respostas, critérios de validação e intervenções pedagógicas.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80B9EF-C536-4A81-BFCB-5FFD3F23C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4805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800" b="0" i="0">
                <a:solidFill>
                  <a:srgbClr val="E5877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 i="0">
                <a:solidFill>
                  <a:srgbClr val="E58778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E58778"/>
                </a:solidFill>
                <a:latin typeface="Arial"/>
                <a:ea typeface="Arial"/>
                <a:cs typeface="Arial"/>
              </a:rPr>
              <a:t>Interrompa a apresentação aqui se os alunos ainda estiverem na sala.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88C441-695C-4F08-A7FD-9492EA857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428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>
            <a:defPPr>
              <a:defRPr sz="750" b="1" i="0">
                <a:solidFill>
                  <a:srgbClr val="7E747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750" b="1" i="0">
                <a:solidFill>
                  <a:srgbClr val="7E7471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7E7471"/>
                </a:solidFill>
                <a:latin typeface="Arial"/>
                <a:ea typeface="Arial"/>
                <a:cs typeface="Arial"/>
              </a:rPr>
              <a:t>ÁREA DO PROFESSOR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8454B7-E918-411B-AA52-505C2A15C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>
            <a:defPPr>
              <a:defRPr sz="750" b="1" i="0">
                <a:solidFill>
                  <a:srgbClr val="7E747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750" b="1" i="0">
                <a:solidFill>
                  <a:srgbClr val="7E7471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7E7471"/>
                </a:solidFill>
                <a:latin typeface="Arial"/>
                <a:ea typeface="Arial"/>
                <a:cs typeface="Arial"/>
              </a:rPr>
              <a:t>25</a:t>
            </a:r>
          </a:p>
        </p:txBody>
      </p:sp>
    </p:spTree>
    <p:extLst>
      <p:ext uri="{BB962C8B-B14F-4D97-AF65-F5344CB8AC3E}">
        <p14:creationId xmlns:p14="http://schemas.microsoft.com/office/powerpoint/2010/main" val="649909039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0E0D1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6454ECB-C641-4058-9BAF-A93DC3E46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975" b="1" i="0">
                <a:solidFill>
                  <a:srgbClr val="D567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75" b="1" i="0">
                <a:solidFill>
                  <a:srgbClr val="D5673B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D5673B"/>
                </a:solidFill>
                <a:latin typeface="Arial"/>
                <a:ea typeface="Arial"/>
                <a:cs typeface="Arial"/>
              </a:rPr>
              <a:t>GABARITO · SELOS 1 A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3F55CA-7627-4018-A7EE-818E84DA5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971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3150" b="1" i="0">
                <a:solidFill>
                  <a:srgbClr val="F4ECE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 i="0">
                <a:solidFill>
                  <a:srgbClr val="F4ECE3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F4ECE3"/>
                </a:solidFill>
                <a:latin typeface="Arial"/>
                <a:ea typeface="Arial"/>
                <a:cs typeface="Arial"/>
              </a:rPr>
              <a:t>Primeiro ato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9C4DF0-6D71-4332-B47A-825CD5DAE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381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67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9EF621-A4A4-4850-AEB5-4F15382C2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57375"/>
            <a:ext cx="9734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>
            <a:defPPr>
              <a:defRPr sz="1350" b="1" i="0">
                <a:solidFill>
                  <a:srgbClr val="F4ECE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1" i="0">
                <a:solidFill>
                  <a:srgbClr val="F4ECE3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4ECE3"/>
                </a:solidFill>
                <a:latin typeface="Arial"/>
                <a:ea typeface="Arial"/>
                <a:cs typeface="Arial"/>
              </a:rPr>
              <a:t>Arquivo Vazio · 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277718-2201-4A42-A620-B5769C8C3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81225"/>
            <a:ext cx="97345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125" b="0" i="0">
                <a:solidFill>
                  <a:srgbClr val="B5AAA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0" i="0">
                <a:solidFill>
                  <a:srgbClr val="B5AAA4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B5AAA4"/>
                </a:solidFill>
                <a:latin typeface="Arial"/>
                <a:ea typeface="Arial"/>
                <a:cs typeface="Arial"/>
              </a:rPr>
              <a:t>(A ∪ B) \ C = {2,3,5,7,11,12}. Cardinalidade 6.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0D35AF-5667-4C3F-9AB7-2AD65313A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0"/>
            <a:ext cx="381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A8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A4D67B-28EE-48E8-B6F1-3453946FE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38500"/>
            <a:ext cx="9734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>
            <a:defPPr>
              <a:defRPr sz="1350" b="1" i="0">
                <a:solidFill>
                  <a:srgbClr val="F4ECE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1" i="0">
                <a:solidFill>
                  <a:srgbClr val="F4ECE3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4ECE3"/>
                </a:solidFill>
                <a:latin typeface="Arial"/>
                <a:ea typeface="Arial"/>
                <a:cs typeface="Arial"/>
              </a:rPr>
              <a:t>Corredor dos Vínculos · 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6B4BDE-9FAB-4507-B257-524316ADC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62350"/>
            <a:ext cx="97345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125" b="0" i="0">
                <a:solidFill>
                  <a:srgbClr val="B5AAA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0" i="0">
                <a:solidFill>
                  <a:srgbClr val="B5AAA4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B5AAA4"/>
                </a:solidFill>
                <a:latin typeface="Arial"/>
                <a:ea typeface="Arial"/>
                <a:cs typeface="Arial"/>
              </a:rPr>
              <a:t>Reflexiva e antissimétrica. Não simétrica. Não transitiva. Falta (A,C).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3D20E2-4D50-41C4-9746-649547383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19625"/>
            <a:ext cx="381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9BFC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2DE683-D38A-48D2-A4C7-F23A891CD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19625"/>
            <a:ext cx="9734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>
            <a:defPPr>
              <a:defRPr sz="1350" b="1" i="0">
                <a:solidFill>
                  <a:srgbClr val="F4ECE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1" i="0">
                <a:solidFill>
                  <a:srgbClr val="F4ECE3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4ECE3"/>
                </a:solidFill>
                <a:latin typeface="Arial"/>
                <a:ea typeface="Arial"/>
                <a:cs typeface="Arial"/>
              </a:rPr>
              <a:t>Galeria dos Espelhos · 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DE445B9-27CD-4E75-9F1E-FEBFC301D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943475"/>
            <a:ext cx="97345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125" b="0" i="0">
                <a:solidFill>
                  <a:srgbClr val="B5AAA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0" i="0">
                <a:solidFill>
                  <a:srgbClr val="B5AAA4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B5AAA4"/>
                </a:solidFill>
                <a:latin typeface="Arial"/>
                <a:ea typeface="Arial"/>
                <a:cs typeface="Arial"/>
              </a:rPr>
              <a:t>Função não injetiva e não sobrejetiva. Troque Orfeu ↦ Leste por Orfeu ↦ Oeste.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56C6D7E-EA22-44D2-B91D-837C597C2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428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>
            <a:defPPr>
              <a:defRPr sz="750" b="1" i="0">
                <a:solidFill>
                  <a:srgbClr val="7E747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750" b="1" i="0">
                <a:solidFill>
                  <a:srgbClr val="7E7471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7E7471"/>
                </a:solidFill>
                <a:latin typeface="Arial"/>
                <a:ea typeface="Arial"/>
                <a:cs typeface="Arial"/>
              </a:rPr>
              <a:t>APÊNDICE DO PROFESSOR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DBD9FFE-A552-427D-8603-143FB6DAE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>
            <a:defPPr>
              <a:defRPr sz="750" b="1" i="0">
                <a:solidFill>
                  <a:srgbClr val="7E747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750" b="1" i="0">
                <a:solidFill>
                  <a:srgbClr val="7E7471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7E7471"/>
                </a:solidFill>
                <a:latin typeface="Arial"/>
                <a:ea typeface="Arial"/>
                <a:cs typeface="Arial"/>
              </a:rPr>
              <a:t>26</a:t>
            </a:r>
          </a:p>
        </p:txBody>
      </p:sp>
    </p:spTree>
    <p:extLst>
      <p:ext uri="{BB962C8B-B14F-4D97-AF65-F5344CB8AC3E}">
        <p14:creationId xmlns:p14="http://schemas.microsoft.com/office/powerpoint/2010/main" val="8698270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0E0D1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3D9C8B8-16DB-409E-9A64-C6A0B235F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975" b="1" i="0">
                <a:solidFill>
                  <a:srgbClr val="D567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75" b="1" i="0">
                <a:solidFill>
                  <a:srgbClr val="D5673B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D5673B"/>
                </a:solidFill>
                <a:latin typeface="Arial"/>
                <a:ea typeface="Arial"/>
                <a:cs typeface="Arial"/>
              </a:rPr>
              <a:t>GABARITO · SELOS 4 A 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EB68C4-186A-4FF8-A1F6-D82D49320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971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3150" b="1" i="0">
                <a:solidFill>
                  <a:srgbClr val="F4ECE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 i="0">
                <a:solidFill>
                  <a:srgbClr val="F4ECE3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F4ECE3"/>
                </a:solidFill>
                <a:latin typeface="Arial"/>
                <a:ea typeface="Arial"/>
                <a:cs typeface="Arial"/>
              </a:rPr>
              <a:t>Segundo ato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E8BFEB-55E6-4878-8810-A5669994B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381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67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4C596E-50EF-4AC6-AC25-55365ED79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57375"/>
            <a:ext cx="9734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>
            <a:defPPr>
              <a:defRPr sz="1350" b="1" i="0">
                <a:solidFill>
                  <a:srgbClr val="F4ECE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1" i="0">
                <a:solidFill>
                  <a:srgbClr val="F4ECE3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4ECE3"/>
                </a:solidFill>
                <a:latin typeface="Arial"/>
                <a:ea typeface="Arial"/>
                <a:cs typeface="Arial"/>
              </a:rPr>
              <a:t>Capela das Vozes · 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31874E-CA73-4CAB-8B30-85B9F8CE7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81225"/>
            <a:ext cx="97345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125" b="0" i="0">
                <a:solidFill>
                  <a:srgbClr val="B5AAA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0" i="0">
                <a:solidFill>
                  <a:srgbClr val="B5AAA4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B5AAA4"/>
                </a:solidFill>
                <a:latin typeface="Arial"/>
                <a:ea typeface="Arial"/>
                <a:cs typeface="Arial"/>
              </a:rPr>
              <a:t>Conclusão ¬p. A fórmula é tautologia. p → q equivale a ¬p ∨ q.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9E989C-82EB-4383-86D8-6B40A04D3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0"/>
            <a:ext cx="381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A8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277B7E-485B-46AB-BAE1-39C163A39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38500"/>
            <a:ext cx="9734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>
            <a:defPPr>
              <a:defRPr sz="1350" b="1" i="0">
                <a:solidFill>
                  <a:srgbClr val="F4ECE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1" i="0">
                <a:solidFill>
                  <a:srgbClr val="F4ECE3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4ECE3"/>
                </a:solidFill>
                <a:latin typeface="Arial"/>
                <a:ea typeface="Arial"/>
                <a:cs typeface="Arial"/>
              </a:rPr>
              <a:t>Autômato Cego · 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8AB7A9-2262-4EC1-8567-A13C7BED7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62350"/>
            <a:ext cx="97345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125" b="0" i="0">
                <a:solidFill>
                  <a:srgbClr val="B5AAA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0" i="0">
                <a:solidFill>
                  <a:srgbClr val="B5AAA4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B5AAA4"/>
                </a:solidFill>
                <a:latin typeface="Arial"/>
                <a:ea typeface="Arial"/>
                <a:cs typeface="Arial"/>
              </a:rPr>
              <a:t>(selo &amp;&amp; operador) || (emergencia &amp;&amp; guardiao). Saídas 1010.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5A2D7B-DEF2-47ED-8E31-4D3EA8345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19625"/>
            <a:ext cx="381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9BFC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518A3B-9339-4C7A-8450-0ADB9303F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19625"/>
            <a:ext cx="9734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>
            <a:defPPr>
              <a:defRPr sz="1350" b="1" i="0">
                <a:solidFill>
                  <a:srgbClr val="F4ECE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1" i="0">
                <a:solidFill>
                  <a:srgbClr val="F4ECE3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4ECE3"/>
                </a:solidFill>
                <a:latin typeface="Arial"/>
                <a:ea typeface="Arial"/>
                <a:cs typeface="Arial"/>
              </a:rPr>
              <a:t>Sala das Lâmpadas Mortas · 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1177AC-D0BA-4151-8C48-7E7EED558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943475"/>
            <a:ext cx="97345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125" b="0" i="0">
                <a:solidFill>
                  <a:srgbClr val="B5AAA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0" i="0">
                <a:solidFill>
                  <a:srgbClr val="B5AAA4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B5AAA4"/>
                </a:solidFill>
                <a:latin typeface="Arial"/>
                <a:ea typeface="Arial"/>
                <a:cs typeface="Arial"/>
              </a:rPr>
              <a:t>L = (A XOR B) AND NOT I. A lâmpada acende nas entradas 010 e 100.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73151FD-A9DB-439A-9AEE-1A90E5B72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428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>
            <a:defPPr>
              <a:defRPr sz="750" b="1" i="0">
                <a:solidFill>
                  <a:srgbClr val="7E747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750" b="1" i="0">
                <a:solidFill>
                  <a:srgbClr val="7E7471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7E7471"/>
                </a:solidFill>
                <a:latin typeface="Arial"/>
                <a:ea typeface="Arial"/>
                <a:cs typeface="Arial"/>
              </a:rPr>
              <a:t>APÊNDICE DO PROFESSOR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8865FEE-E449-4694-AD47-FFE91090D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>
            <a:defPPr>
              <a:defRPr sz="750" b="1" i="0">
                <a:solidFill>
                  <a:srgbClr val="7E747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750" b="1" i="0">
                <a:solidFill>
                  <a:srgbClr val="7E7471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7E7471"/>
                </a:solidFill>
                <a:latin typeface="Arial"/>
                <a:ea typeface="Arial"/>
                <a:cs typeface="Arial"/>
              </a:rPr>
              <a:t>27</a:t>
            </a:r>
          </a:p>
        </p:txBody>
      </p:sp>
    </p:spTree>
    <p:extLst>
      <p:ext uri="{BB962C8B-B14F-4D97-AF65-F5344CB8AC3E}">
        <p14:creationId xmlns:p14="http://schemas.microsoft.com/office/powerpoint/2010/main" val="994707002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0E0D1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60F8EAF-E8F7-45A0-AAF7-B5FA8AD1E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975" b="1" i="0">
                <a:solidFill>
                  <a:srgbClr val="D567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75" b="1" i="0">
                <a:solidFill>
                  <a:srgbClr val="D5673B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D5673B"/>
                </a:solidFill>
                <a:latin typeface="Arial"/>
                <a:ea typeface="Arial"/>
                <a:cs typeface="Arial"/>
              </a:rPr>
              <a:t>GABARITO · SELO 7 E FINAL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776FF0-D89D-4A0C-8F0E-2CB974806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971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3150" b="1" i="0">
                <a:solidFill>
                  <a:srgbClr val="F4ECE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 i="0">
                <a:solidFill>
                  <a:srgbClr val="F4ECE3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F4ECE3"/>
                </a:solidFill>
                <a:latin typeface="Arial"/>
                <a:ea typeface="Arial"/>
                <a:cs typeface="Arial"/>
              </a:rPr>
              <a:t>Fechamento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1FE310-D731-431C-A883-C5D265FD3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381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67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15E8D7-C3D0-4E25-BC18-C7FE061F9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57375"/>
            <a:ext cx="9734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>
            <a:defPPr>
              <a:defRPr sz="1350" b="1" i="0">
                <a:solidFill>
                  <a:srgbClr val="F4ECE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1" i="0">
                <a:solidFill>
                  <a:srgbClr val="F4ECE3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4ECE3"/>
                </a:solidFill>
                <a:latin typeface="Arial"/>
                <a:ea typeface="Arial"/>
                <a:cs typeface="Arial"/>
              </a:rPr>
              <a:t>Labirinto · X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5F2E9F-FAD4-4B97-9E80-15AC2D582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81225"/>
            <a:ext cx="97345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125" b="0" i="0">
                <a:solidFill>
                  <a:srgbClr val="B5AAA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0" i="0">
                <a:solidFill>
                  <a:srgbClr val="B5AAA4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B5AAA4"/>
                </a:solidFill>
                <a:latin typeface="Arial"/>
                <a:ea typeface="Arial"/>
                <a:cs typeface="Arial"/>
              </a:rPr>
              <a:t>5 alternativas. 12 etapas. C(7,3) = 35. Código restrito = 300. Soma = 352.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78EBEB-4651-4207-8F0C-E1162C713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0"/>
            <a:ext cx="381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A8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9A51C6-45FE-4FF0-BD40-2436C4479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38500"/>
            <a:ext cx="9734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>
            <a:defPPr>
              <a:defRPr sz="1350" b="1" i="0">
                <a:solidFill>
                  <a:srgbClr val="F4ECE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1" i="0">
                <a:solidFill>
                  <a:srgbClr val="F4ECE3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4ECE3"/>
                </a:solidFill>
                <a:latin typeface="Arial"/>
                <a:ea typeface="Arial"/>
                <a:cs typeface="Arial"/>
              </a:rPr>
              <a:t>Câmara final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EB9E3D-455C-4F9A-B886-C8F99D282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62350"/>
            <a:ext cx="97345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125" b="0" i="0">
                <a:solidFill>
                  <a:srgbClr val="B5AAA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0" i="0">
                <a:solidFill>
                  <a:srgbClr val="B5AAA4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B5AAA4"/>
                </a:solidFill>
                <a:latin typeface="Arial"/>
                <a:ea typeface="Arial"/>
                <a:cs typeface="Arial"/>
              </a:rPr>
              <a:t>Runas: PARADOX. Configurações: 2⁷ = 128. Todos os selos verdadeiros: 1.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6F355E-1974-4741-B806-B6432ABCB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19625"/>
            <a:ext cx="381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C9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397085-1E6E-4E44-B0AA-F4F8E8825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19625"/>
            <a:ext cx="9734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>
            <a:defPPr>
              <a:defRPr sz="1350" b="1" i="0">
                <a:solidFill>
                  <a:srgbClr val="F4ECE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1" i="0">
                <a:solidFill>
                  <a:srgbClr val="F4ECE3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4ECE3"/>
                </a:solidFill>
                <a:latin typeface="Arial"/>
                <a:ea typeface="Arial"/>
                <a:cs typeface="Arial"/>
              </a:rPr>
              <a:t>Chave de contenção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6D3A79-D667-4E9E-AF22-86D877189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943475"/>
            <a:ext cx="97345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125" b="0" i="0">
                <a:solidFill>
                  <a:srgbClr val="B5AAA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0" i="0">
                <a:solidFill>
                  <a:srgbClr val="B5AAA4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B5AAA4"/>
                </a:solidFill>
                <a:latin typeface="Arial"/>
                <a:ea typeface="Arial"/>
                <a:cs typeface="Arial"/>
              </a:rPr>
              <a:t>PARADOX-128-1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BCC30D6-06D2-4AC5-9AE7-827BF3A24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428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>
            <a:defPPr>
              <a:defRPr sz="750" b="1" i="0">
                <a:solidFill>
                  <a:srgbClr val="7E747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750" b="1" i="0">
                <a:solidFill>
                  <a:srgbClr val="7E7471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7E7471"/>
                </a:solidFill>
                <a:latin typeface="Arial"/>
                <a:ea typeface="Arial"/>
                <a:cs typeface="Arial"/>
              </a:rPr>
              <a:t>APÊNDICE DO PROFESSOR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B7A0987-FDD2-4874-910D-AA9D09AAD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>
            <a:defPPr>
              <a:defRPr sz="750" b="1" i="0">
                <a:solidFill>
                  <a:srgbClr val="7E747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750" b="1" i="0">
                <a:solidFill>
                  <a:srgbClr val="7E7471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7E7471"/>
                </a:solidFill>
                <a:latin typeface="Arial"/>
                <a:ea typeface="Arial"/>
                <a:cs typeface="Arial"/>
              </a:rPr>
              <a:t>28</a:t>
            </a:r>
          </a:p>
        </p:txBody>
      </p:sp>
    </p:spTree>
    <p:extLst>
      <p:ext uri="{BB962C8B-B14F-4D97-AF65-F5344CB8AC3E}">
        <p14:creationId xmlns:p14="http://schemas.microsoft.com/office/powerpoint/2010/main" val="8159142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2026-10-08T17:57:24.1210000Z</dcterms:created>
  <dcterms:modified xsi:type="dcterms:W3CDTF">2026-10-08T17:57:24.1210000Z</dcterms:modified>
</coreProperties>
</file>